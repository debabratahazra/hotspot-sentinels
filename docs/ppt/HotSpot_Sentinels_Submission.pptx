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  <Override PartName="/ppt/media/image21.png" ContentType="image/png"/>
  <Override PartName="/ppt/media/image11.png" ContentType="image/png"/>
  <Override PartName="/ppt/media/image7.png" ContentType="image/png"/>
  <Override PartName="/ppt/media/image22.png" ContentType="image/png"/>
  <Override PartName="/ppt/media/image8.png" ContentType="image/png"/>
  <Override PartName="/ppt/media/image23.png" ContentType="image/png"/>
  <Override PartName="/ppt/media/image9.png" ContentType="image/png"/>
  <Override PartName="/ppt/media/image24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6.png" ContentType="image/png"/>
  <Override PartName="/ppt/media/image17.png" ContentType="image/png"/>
  <Override PartName="/ppt/media/image5.png" ContentType="image/png"/>
  <Override PartName="/ppt/media/image20.png" ContentType="image/png"/>
  <Override PartName="/ppt/media/image19.png" ContentType="image/png"/>
  <Override PartName="/ppt/media/image25.png" ContentType="image/png"/>
  <Override PartName="/ppt/media/image26.png" ContentType="image/png"/>
  <Override PartName="/ppt/media/image28.png" ContentType="image/png"/>
  <Override PartName="/ppt/media/image10.png" ContentType="image/png"/>
  <Override PartName="/ppt/media/image29.png" ContentType="image/png"/>
  <Override PartName="/ppt/media/image27.png" ContentType="image/png"/>
  <Override PartName="/ppt/media/image18.png" ContentType="image/png"/>
  <Override PartName="/ppt/media/image15.png" ContentType="image/png"/>
  <Override PartName="/ppt/media/image30.png" ContentType="image/pn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17F1624-4946-4D3E-9B62-5A3B2BFFA5F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170AA65-B2E4-424B-B181-10F17427315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A46BE3F-8888-4D07-8C67-CADFE06F655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9933BE6-79EF-4AFB-89C1-D82D97D8C4AA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8F04C51-89CD-4FAE-8255-DA0AB9F2563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4B98788-FD33-46E3-BC70-C7538542D9B2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973028E-5379-47E6-A4A3-A28BCC24F6DD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C2C97F3-7994-4AE4-9F03-A93B1F20E54B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1A6D6DC-C58B-4629-802A-3718983BD011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064FB8F-40A6-46DC-A970-BB53BBF9E725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9CECFFF-ABF3-4923-8EB5-83B0C377FE7F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0CD498A-2FB4-42A3-BF51-63984AD2E6D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p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FAD7535-556C-43A2-981E-8B68B8EC5560}" type="slidenum">
              <a:rPr b="0" lang="en-GB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hyperlink" Target="https://github.com/debabratahazra/hotspot-sentinels" TargetMode="External"/><Relationship Id="rId4" Type="http://schemas.openxmlformats.org/officeDocument/2006/relationships/hyperlink" Target="https://hotspot-frontend-153692178986.asia-southeast1.run.app/" TargetMode="External"/><Relationship Id="rId5" Type="http://schemas.openxmlformats.org/officeDocument/2006/relationships/hyperlink" Target="https://hotspot-sentinels-7364.web.app/" TargetMode="External"/><Relationship Id="rId6" Type="http://schemas.openxmlformats.org/officeDocument/2006/relationships/hyperlink" Target="https://hotspot-backend-153692178986.asia-southeast1.run.app/api/health" TargetMode="External"/><Relationship Id="rId7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54;p13"/>
          <p:cNvSpPr/>
          <p:nvPr/>
        </p:nvSpPr>
        <p:spPr>
          <a:xfrm>
            <a:off x="146520" y="2902680"/>
            <a:ext cx="8759520" cy="20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100" spc="-1" strike="noStrike">
                <a:solidFill>
                  <a:srgbClr val="000000"/>
                </a:solidFill>
                <a:latin typeface="Google Sans Flex SemiBold"/>
                <a:ea typeface="Google Sans Flex SemiBold"/>
              </a:rPr>
              <a:t>Team Details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Google Sans Flex"/>
              <a:buAutoNum type="alphaL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Google Sans Flex"/>
                <a:ea typeface="Google Sans Flex"/>
              </a:rPr>
              <a:t>Team name: HotSpot Sentinels </a:t>
            </a:r>
            <a:endParaRPr b="0" lang="en-US" sz="1800" spc="-1" strike="noStrike"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Google Sans Flex"/>
              <a:buAutoNum type="alphaL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Google Sans Flex"/>
                <a:ea typeface="Google Sans Flex"/>
              </a:rPr>
              <a:t>Team leader name: Debabrata Hazra, Deepthi Konda</a:t>
            </a:r>
            <a:endParaRPr b="0" lang="en-US" sz="1800" spc="-1" strike="noStrike"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Google Sans Flex"/>
              <a:buAutoNum type="alphaL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Google Sans Flex"/>
                <a:ea typeface="Google Sans Flex"/>
              </a:rPr>
              <a:t>Problem Statement: Sustainability and Social Impact — Urban heat islands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40" name="Google Shape;55;p1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2715120"/>
          </a:xfrm>
          <a:prstGeom prst="rect">
            <a:avLst/>
          </a:prstGeom>
          <a:ln w="0">
            <a:noFill/>
          </a:ln>
        </p:spPr>
      </p:pic>
      <p:pic>
        <p:nvPicPr>
          <p:cNvPr id="41" name="Google Shape;56;p13" descr=""/>
          <p:cNvPicPr/>
          <p:nvPr/>
        </p:nvPicPr>
        <p:blipFill>
          <a:blip r:embed="rId2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69;p1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43" name="Google Shape;70;p15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71;p15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Brief about the idea</a:t>
            </a:r>
            <a:endParaRPr b="1" lang="en-US" sz="16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65320" y="1263600"/>
            <a:ext cx="8835480" cy="356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buNone/>
            </a:pPr>
            <a:r>
              <a:rPr b="0" lang="en-US" sz="1500" spc="-1" strike="noStrike">
                <a:latin typeface="Arial"/>
              </a:rPr>
              <a:t>Heat is the deadliest weather there is, and cities make it worse. Dark roofs and asphalt turn a neighborhood into an oven several degrees hotter than the land around it.</a:t>
            </a:r>
            <a:endParaRPr b="0" lang="en-US" sz="1500" spc="-1" strike="noStrike">
              <a:latin typeface="Arial"/>
            </a:endParaRPr>
          </a:p>
          <a:p>
            <a:pPr algn="just">
              <a:buNone/>
            </a:pPr>
            <a:endParaRPr b="0" lang="en-US" sz="1800" spc="-1" strike="noStrike">
              <a:latin typeface="Arial"/>
            </a:endParaRPr>
          </a:p>
          <a:p>
            <a:pPr algn="just">
              <a:buNone/>
            </a:pPr>
            <a:r>
              <a:rPr b="0" lang="en-US" sz="1500" spc="-1" strike="noStrike">
                <a:latin typeface="Arial"/>
              </a:rPr>
              <a:t>- That heat kills the elderly and the outdoor poor, pushes street animals and urban wildlife out of their range, and forces air-conditioning demand that burns more carbon — which makes the next summer hotter still.</a:t>
            </a:r>
            <a:endParaRPr b="0" lang="en-US" sz="1500" spc="-1" strike="noStrike">
              <a:latin typeface="Arial"/>
            </a:endParaRPr>
          </a:p>
          <a:p>
            <a:pPr algn="just">
              <a:buNone/>
            </a:pPr>
            <a:r>
              <a:rPr b="0" lang="en-US" sz="1500" spc="-1" strike="noStrike">
                <a:latin typeface="Arial"/>
              </a:rPr>
              <a:t>- The barrier is not willingness. It is that nobody can point at one city block and say how bad this one is, and what exactly to do about it.</a:t>
            </a:r>
            <a:endParaRPr b="0" lang="en-US" sz="1500" spc="-1" strike="noStrike">
              <a:latin typeface="Arial"/>
            </a:endParaRPr>
          </a:p>
          <a:p>
            <a:pPr algn="just">
              <a:buNone/>
            </a:pPr>
            <a:endParaRPr b="0" lang="en-US" sz="1800" spc="-1" strike="noStrike">
              <a:latin typeface="Arial"/>
            </a:endParaRPr>
          </a:p>
          <a:p>
            <a:pPr algn="just">
              <a:buNone/>
            </a:pPr>
            <a:r>
              <a:rPr b="1" lang="en-US" sz="1500" spc="-1" strike="noStrike">
                <a:latin typeface="Arial"/>
              </a:rPr>
              <a:t>HotSpot Sentinels answers both in about fifteen seconds:</a:t>
            </a:r>
            <a:endParaRPr b="0" lang="en-US" sz="1500" spc="-1" strike="noStrike">
              <a:latin typeface="Arial"/>
            </a:endParaRPr>
          </a:p>
          <a:p>
            <a:pPr algn="just">
              <a:buNone/>
            </a:pPr>
            <a:r>
              <a:rPr b="0" lang="en-US" sz="1500" spc="-1" strike="noStrike">
                <a:latin typeface="Arial"/>
              </a:rPr>
              <a:t>  </a:t>
            </a:r>
            <a:r>
              <a:rPr b="0" lang="en-US" sz="1500" spc="-1" strike="noStrike">
                <a:latin typeface="Arial"/>
              </a:rPr>
              <a:t>- A 0–10 Heat Vulnerability Index with a risk band</a:t>
            </a:r>
            <a:endParaRPr b="0" lang="en-US" sz="1500" spc="-1" strike="noStrike">
              <a:latin typeface="Arial"/>
            </a:endParaRPr>
          </a:p>
          <a:p>
            <a:pPr algn="just">
              <a:buNone/>
            </a:pPr>
            <a:r>
              <a:rPr b="0" lang="en-US" sz="1500" spc="-1" strike="noStrike">
                <a:latin typeface="Arial"/>
              </a:rPr>
              <a:t>  </a:t>
            </a:r>
            <a:r>
              <a:rPr b="0" lang="en-US" sz="1500" spc="-1" strike="noStrike">
                <a:latin typeface="Arial"/>
              </a:rPr>
              <a:t>- The surface materials driving that score — asphalt, dark roof, concrete, canopy</a:t>
            </a:r>
            <a:endParaRPr b="0" lang="en-US" sz="1500" spc="-1" strike="noStrike">
              <a:latin typeface="Arial"/>
            </a:endParaRPr>
          </a:p>
          <a:p>
            <a:pPr algn="just">
              <a:buNone/>
            </a:pPr>
            <a:r>
              <a:rPr b="0" lang="en-US" sz="1500" spc="-1" strike="noStrike">
                <a:latin typeface="Arial"/>
              </a:rPr>
              <a:t> </a:t>
            </a:r>
            <a:r>
              <a:rPr b="0" lang="en-US" sz="1500" spc="-1" strike="noStrike">
                <a:latin typeface="Arial"/>
              </a:rPr>
              <a:t>- A passive-cooling blueprint with quantities: corridor orientation, retroreflective coating in m², projected temperature drop in °C</a:t>
            </a:r>
            <a:endParaRPr b="0" lang="en-US" sz="1500" spc="-1" strike="noStrike">
              <a:latin typeface="Arial"/>
            </a:endParaRPr>
          </a:p>
          <a:p>
            <a:pPr algn="just">
              <a:buNone/>
            </a:pPr>
            <a:r>
              <a:rPr b="0" lang="en-US" sz="1500" spc="-1" strike="noStrike">
                <a:latin typeface="Arial"/>
              </a:rPr>
              <a:t>- When a zone scores CRITICAL it publishes a public alert automatically, so residents learn their street is dangerous without needing access to a planning dashboard.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76;p16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47" name="Google Shape;77;p16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78;p16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Google Shape;79;p16"/>
          <p:cNvSpPr/>
          <p:nvPr/>
        </p:nvSpPr>
        <p:spPr>
          <a:xfrm rot="4200">
            <a:off x="264960" y="669240"/>
            <a:ext cx="894276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Google Sans Flex SemiBold"/>
                <a:ea typeface="Google Sans Flex SemiBold"/>
              </a:rPr>
              <a:t>Opportunities</a:t>
            </a:r>
            <a:br>
              <a:rPr sz="1600"/>
            </a:br>
            <a:endParaRPr b="0" lang="en-US" sz="1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228600" y="1086840"/>
            <a:ext cx="8686800" cy="371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Why this matters — environment, people, animals:</a:t>
            </a:r>
            <a:endParaRPr b="0" lang="en-US" sz="13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  </a:t>
            </a: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- Measured on the live system: a container terminal at 0% tree canopy scores 8.6 CRITICAL; a national park at 100% canopy scores 1.5 LOW. Same model, same pipeline. That gap is exactly what tree cover and reflective surfaces buy a city.</a:t>
            </a:r>
            <a:endParaRPr b="0" lang="en-US" sz="13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  </a:t>
            </a: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- The blueprint for one CRITICAL zone projects an 8–10 °C surface temperature drop — the difference between a heatwave that is survivable and one that is not, and a direct cut in cooling energy demand.</a:t>
            </a:r>
            <a:endParaRPr b="0" lang="en-US" sz="13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  </a:t>
            </a: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- Cooler blocks mean habitable shade for street animals and urban wildlife, not only comfort for people indoors.</a:t>
            </a:r>
            <a:endParaRPr b="0" lang="en-US" sz="13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How it differs from existing ideas:</a:t>
            </a:r>
            <a:endParaRPr b="0" lang="en-US" sz="13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  </a:t>
            </a: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- Most heat-island tools stop at a map showing where it is hot. This explains why — which surfaces cause it — and prescribes what to change, with quantities.</a:t>
            </a:r>
            <a:endParaRPr b="0" lang="en-US" sz="13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  </a:t>
            </a: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- No thermal or LiDAR capture needed. It reads ordinary RGB imagery, so any city with satellite coverage can start today, including ones that cannot fund a survey.</a:t>
            </a:r>
            <a:endParaRPr b="0" lang="en-US" sz="13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USP:</a:t>
            </a:r>
            <a:endParaRPr b="0" lang="en-US" sz="13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  </a:t>
            </a:r>
            <a:r>
              <a:rPr b="0" lang="en-GB" sz="13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- Image or place name in, costed retrofit plan out, in about fifteen seconds — with a machine-readable contract that can feed procurement or GIS directly.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84;p17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52" name="Google Shape;85;p17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86;p17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87;p17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List of features offered by the solution</a:t>
            </a:r>
            <a:endParaRPr b="1" lang="en-US" sz="1600" spc="-1" strike="noStrike"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228600" y="1186200"/>
            <a:ext cx="868680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just">
              <a:buNone/>
            </a:pP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r>
              <a:rPr b="1" lang="en-US" sz="1300" spc="-1" strike="noStrike">
                <a:latin typeface="Arial"/>
              </a:rPr>
              <a:t>Analyze anywhere — four ways to choose a location</a:t>
            </a: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r>
              <a:rPr b="0" lang="en-US" sz="1300" spc="-1" strike="noStrike">
                <a:latin typeface="Arial"/>
              </a:rPr>
              <a:t>  </a:t>
            </a:r>
            <a:r>
              <a:rPr b="0" lang="en-US" sz="1300" spc="-1" strike="noStrike">
                <a:latin typeface="Arial"/>
              </a:rPr>
              <a:t>- A shortcut list of 15 places across Asia, ordered most built-up to most green, so the list itself runs from CRITICAL down to LOW</a:t>
            </a: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r>
              <a:rPr b="0" lang="en-US" sz="1300" spc="-1" strike="noStrike">
                <a:latin typeface="Arial"/>
              </a:rPr>
              <a:t>  </a:t>
            </a:r>
            <a:r>
              <a:rPr b="0" lang="en-US" sz="1300" spc="-1" strike="noStrike">
                <a:latin typeface="Arial"/>
              </a:rPr>
              <a:t>- Type three characters and pick from live Google Places suggestions, down to neighborhood level; click any point on a world map; or paste coordinates</a:t>
            </a: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r>
              <a:rPr b="0" lang="en-US" sz="1300" spc="-1" strike="noStrike">
                <a:latin typeface="Arial"/>
              </a:rPr>
              <a:t>  </a:t>
            </a:r>
            <a:r>
              <a:rPr b="0" lang="en-US" sz="1300" spc="-1" strike="noStrike">
                <a:latin typeface="Arial"/>
              </a:rPr>
              <a:t>- A clicked point is named automatically — city and country on land, or the sea or ocean at sea</a:t>
            </a: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r>
              <a:rPr b="0" lang="en-US" sz="1300" spc="-1" strike="noStrike">
                <a:latin typeface="Arial"/>
              </a:rPr>
              <a:t>  </a:t>
            </a:r>
            <a:r>
              <a:rPr b="0" lang="en-US" sz="1300" spc="-1" strike="noStrike">
                <a:latin typeface="Arial"/>
              </a:rPr>
              <a:t>- Whichever method is used, both search boxes and the coordinate fields update together, so the screen never names one place while analyzing another</a:t>
            </a: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endParaRPr b="0" lang="en-US" sz="3200" spc="-1" strike="noStrike">
              <a:latin typeface="Arial"/>
            </a:endParaRPr>
          </a:p>
          <a:p>
            <a:pPr algn="just">
              <a:buNone/>
            </a:pPr>
            <a:r>
              <a:rPr b="1" lang="en-US" sz="1300" spc="-1" strike="noStrike">
                <a:latin typeface="Arial"/>
              </a:rPr>
              <a:t>Analysis</a:t>
            </a: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r>
              <a:rPr b="0" lang="en-US" sz="1300" spc="-1" strike="noStrike">
                <a:latin typeface="Arial"/>
              </a:rPr>
              <a:t>  </a:t>
            </a:r>
            <a:r>
              <a:rPr b="0" lang="en-US" sz="1300" spc="-1" strike="noStrike">
                <a:latin typeface="Arial"/>
              </a:rPr>
              <a:t>- Upload an aerial image, or analyze a coordinate from live Google satellite imagery</a:t>
            </a: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r>
              <a:rPr b="0" lang="en-US" sz="1300" spc="-1" strike="noStrike">
                <a:latin typeface="Arial"/>
              </a:rPr>
              <a:t>  </a:t>
            </a:r>
            <a:r>
              <a:rPr b="0" lang="en-US" sz="1300" spc="-1" strike="noStrike">
                <a:latin typeface="Arial"/>
              </a:rPr>
              <a:t>- 0–10 Heat Vulnerability Index with LOW / MODERATE / HIGH / CRITICAL banding</a:t>
            </a: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r>
              <a:rPr b="0" lang="en-US" sz="1300" spc="-1" strike="noStrike">
                <a:latin typeface="Arial"/>
              </a:rPr>
              <a:t>  </a:t>
            </a:r>
            <a:r>
              <a:rPr b="0" lang="en-US" sz="1300" spc="-1" strike="noStrike">
                <a:latin typeface="Arial"/>
              </a:rPr>
              <a:t>- Surface-material breakdown that always totals 100%</a:t>
            </a: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r>
              <a:rPr b="0" lang="en-US" sz="1300" spc="-1" strike="noStrike">
                <a:latin typeface="Arial"/>
              </a:rPr>
              <a:t>  </a:t>
            </a:r>
            <a:r>
              <a:rPr b="0" lang="en-US" sz="1300" spc="-1" strike="noStrike">
                <a:latin typeface="Arial"/>
              </a:rPr>
              <a:t>- Passive-cooling blueprint in metric units — m², °C, corridor orientation</a:t>
            </a:r>
            <a:endParaRPr b="0" lang="en-US" sz="1300" spc="-1" strike="noStrike">
              <a:latin typeface="Arial"/>
            </a:endParaRPr>
          </a:p>
          <a:p>
            <a:pPr algn="just">
              <a:buNone/>
            </a:pPr>
            <a:r>
              <a:rPr b="0" lang="en-US" sz="1300" spc="-1" strike="noStrike">
                <a:latin typeface="Arial"/>
              </a:rPr>
              <a:t>  </a:t>
            </a:r>
            <a:r>
              <a:rPr b="0" lang="en-US" sz="1300" spc="-1" strike="noStrike">
                <a:latin typeface="Arial"/>
              </a:rPr>
              <a:t>- Live ambient temperature from NOAA GSOD via BigQuery, with an offline fallback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84;p 1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57" name="Google Shape;85;p 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58" name="Google Shape;86;p 2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Google Shape;87;p 2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List of features offered by the solution (continued)</a:t>
            </a:r>
            <a:endParaRPr b="1" lang="en-US" sz="1600" spc="-1" strike="noStrike"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228600" y="1180800"/>
            <a:ext cx="8686800" cy="35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just">
              <a:buNone/>
            </a:pPr>
            <a:r>
              <a:rPr b="1" lang="en-US" sz="1600" spc="-1" strike="noStrike">
                <a:latin typeface="Arial"/>
              </a:rPr>
              <a:t>R</a:t>
            </a:r>
            <a:r>
              <a:rPr b="1" lang="en-US" sz="1600" spc="-1" strike="noStrike">
                <a:latin typeface="Arial"/>
              </a:rPr>
              <a:t>e</a:t>
            </a:r>
            <a:r>
              <a:rPr b="1" lang="en-US" sz="1600" spc="-1" strike="noStrike">
                <a:latin typeface="Arial"/>
              </a:rPr>
              <a:t>a</a:t>
            </a:r>
            <a:r>
              <a:rPr b="1" lang="en-US" sz="1600" spc="-1" strike="noStrike">
                <a:latin typeface="Arial"/>
              </a:rPr>
              <a:t>c</a:t>
            </a:r>
            <a:r>
              <a:rPr b="1" lang="en-US" sz="1600" spc="-1" strike="noStrike">
                <a:latin typeface="Arial"/>
              </a:rPr>
              <a:t>h</a:t>
            </a:r>
            <a:r>
              <a:rPr b="1" lang="en-US" sz="1600" spc="-1" strike="noStrike">
                <a:latin typeface="Arial"/>
              </a:rPr>
              <a:t>i</a:t>
            </a:r>
            <a:r>
              <a:rPr b="1" lang="en-US" sz="1600" spc="-1" strike="noStrike">
                <a:latin typeface="Arial"/>
              </a:rPr>
              <a:t>n</a:t>
            </a:r>
            <a:r>
              <a:rPr b="1" lang="en-US" sz="1600" spc="-1" strike="noStrike">
                <a:latin typeface="Arial"/>
              </a:rPr>
              <a:t>g</a:t>
            </a:r>
            <a:r>
              <a:rPr b="1" lang="en-US" sz="1600" spc="-1" strike="noStrike">
                <a:latin typeface="Arial"/>
              </a:rPr>
              <a:t> </a:t>
            </a:r>
            <a:r>
              <a:rPr b="1" lang="en-US" sz="1600" spc="-1" strike="noStrike">
                <a:latin typeface="Arial"/>
              </a:rPr>
              <a:t>p</a:t>
            </a:r>
            <a:r>
              <a:rPr b="1" lang="en-US" sz="1600" spc="-1" strike="noStrike">
                <a:latin typeface="Arial"/>
              </a:rPr>
              <a:t>e</a:t>
            </a:r>
            <a:r>
              <a:rPr b="1" lang="en-US" sz="1600" spc="-1" strike="noStrike">
                <a:latin typeface="Arial"/>
              </a:rPr>
              <a:t>o</a:t>
            </a:r>
            <a:r>
              <a:rPr b="1" lang="en-US" sz="1600" spc="-1" strike="noStrike">
                <a:latin typeface="Arial"/>
              </a:rPr>
              <a:t>p</a:t>
            </a:r>
            <a:r>
              <a:rPr b="1" lang="en-US" sz="1600" spc="-1" strike="noStrike">
                <a:latin typeface="Arial"/>
              </a:rPr>
              <a:t>l</a:t>
            </a:r>
            <a:r>
              <a:rPr b="1" lang="en-US" sz="1600" spc="-1" strike="noStrike">
                <a:latin typeface="Arial"/>
              </a:rPr>
              <a:t>e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-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u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m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P</a:t>
            </a:r>
            <a:r>
              <a:rPr b="0" lang="en-US" sz="1600" spc="-1" strike="noStrike">
                <a:latin typeface="Arial"/>
              </a:rPr>
              <a:t>u</a:t>
            </a:r>
            <a:r>
              <a:rPr b="0" lang="en-US" sz="1600" spc="-1" strike="noStrike">
                <a:latin typeface="Arial"/>
              </a:rPr>
              <a:t>b</a:t>
            </a:r>
            <a:r>
              <a:rPr b="0" lang="en-US" sz="1600" spc="-1" strike="noStrike">
                <a:latin typeface="Arial"/>
              </a:rPr>
              <a:t>/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u</a:t>
            </a:r>
            <a:r>
              <a:rPr b="0" lang="en-US" sz="1600" spc="-1" strike="noStrike">
                <a:latin typeface="Arial"/>
              </a:rPr>
              <a:t>b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h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m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m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z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L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-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P</a:t>
            </a:r>
            <a:r>
              <a:rPr b="0" lang="en-US" sz="1600" spc="-1" strike="noStrike">
                <a:latin typeface="Arial"/>
              </a:rPr>
              <a:t>u</a:t>
            </a:r>
            <a:r>
              <a:rPr b="0" lang="en-US" sz="1600" spc="-1" strike="noStrike">
                <a:latin typeface="Arial"/>
              </a:rPr>
              <a:t>b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w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F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b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H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g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—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z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z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p</a:t>
            </a:r>
            <a:r>
              <a:rPr b="0" lang="en-US" sz="1600" spc="-1" strike="noStrike">
                <a:latin typeface="Arial"/>
              </a:rPr>
              <a:t>p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v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,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w</a:t>
            </a:r>
            <a:r>
              <a:rPr b="0" lang="en-US" sz="1600" spc="-1" strike="noStrike">
                <a:latin typeface="Arial"/>
              </a:rPr>
              <a:t>h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p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y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p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v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e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-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y</a:t>
            </a:r>
            <a:r>
              <a:rPr b="0" lang="en-US" sz="1600" spc="-1" strike="noStrike">
                <a:latin typeface="Arial"/>
              </a:rPr>
              <a:t>-</a:t>
            </a:r>
            <a:r>
              <a:rPr b="0" lang="en-US" sz="1600" spc="-1" strike="noStrike">
                <a:latin typeface="Arial"/>
              </a:rPr>
              <a:t>w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m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p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f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v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y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y</a:t>
            </a:r>
            <a:r>
              <a:rPr b="0" lang="en-US" sz="1600" spc="-1" strike="noStrike">
                <a:latin typeface="Arial"/>
              </a:rPr>
              <a:t>z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z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b</a:t>
            </a:r>
            <a:r>
              <a:rPr b="0" lang="en-US" sz="1600" spc="-1" strike="noStrike">
                <a:latin typeface="Arial"/>
              </a:rPr>
              <a:t>y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k</a:t>
            </a:r>
            <a:r>
              <a:rPr b="0" lang="en-US" sz="1600" spc="-1" strike="noStrike">
                <a:latin typeface="Arial"/>
              </a:rPr>
              <a:t>: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f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q</a:t>
            </a:r>
            <a:r>
              <a:rPr b="0" lang="en-US" sz="1600" spc="-1" strike="noStrike">
                <a:latin typeface="Arial"/>
              </a:rPr>
              <a:t>u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u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w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-</a:t>
            </a:r>
            <a:r>
              <a:rPr b="0" lang="en-US" sz="1600" spc="-1" strike="noStrike">
                <a:latin typeface="Arial"/>
              </a:rPr>
              <a:t>f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t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endParaRPr b="0" lang="en-US" sz="3200" spc="-1" strike="noStrike">
              <a:latin typeface="Arial"/>
            </a:endParaRPr>
          </a:p>
          <a:p>
            <a:pPr algn="just">
              <a:buNone/>
            </a:pPr>
            <a:r>
              <a:rPr b="1" lang="en-US" sz="1600" spc="-1" strike="noStrike">
                <a:latin typeface="Arial"/>
              </a:rPr>
              <a:t>T</a:t>
            </a:r>
            <a:r>
              <a:rPr b="1" lang="en-US" sz="1600" spc="-1" strike="noStrike">
                <a:latin typeface="Arial"/>
              </a:rPr>
              <a:t>r</a:t>
            </a:r>
            <a:r>
              <a:rPr b="1" lang="en-US" sz="1600" spc="-1" strike="noStrike">
                <a:latin typeface="Arial"/>
              </a:rPr>
              <a:t>u</a:t>
            </a:r>
            <a:r>
              <a:rPr b="1" lang="en-US" sz="1600" spc="-1" strike="noStrike">
                <a:latin typeface="Arial"/>
              </a:rPr>
              <a:t>s</a:t>
            </a:r>
            <a:r>
              <a:rPr b="1" lang="en-US" sz="1600" spc="-1" strike="noStrike">
                <a:latin typeface="Arial"/>
              </a:rPr>
              <a:t>t</a:t>
            </a:r>
            <a:r>
              <a:rPr b="1" lang="en-US" sz="1600" spc="-1" strike="noStrike">
                <a:latin typeface="Arial"/>
              </a:rPr>
              <a:t>w</a:t>
            </a:r>
            <a:r>
              <a:rPr b="1" lang="en-US" sz="1600" spc="-1" strike="noStrike">
                <a:latin typeface="Arial"/>
              </a:rPr>
              <a:t>o</a:t>
            </a:r>
            <a:r>
              <a:rPr b="1" lang="en-US" sz="1600" spc="-1" strike="noStrike">
                <a:latin typeface="Arial"/>
              </a:rPr>
              <a:t>r</a:t>
            </a:r>
            <a:r>
              <a:rPr b="1" lang="en-US" sz="1600" spc="-1" strike="noStrike">
                <a:latin typeface="Arial"/>
              </a:rPr>
              <a:t>t</a:t>
            </a:r>
            <a:r>
              <a:rPr b="1" lang="en-US" sz="1600" spc="-1" strike="noStrike">
                <a:latin typeface="Arial"/>
              </a:rPr>
              <a:t>h</a:t>
            </a:r>
            <a:r>
              <a:rPr b="1" lang="en-US" sz="1600" spc="-1" strike="noStrike">
                <a:latin typeface="Arial"/>
              </a:rPr>
              <a:t>i</a:t>
            </a:r>
            <a:r>
              <a:rPr b="1" lang="en-US" sz="1600" spc="-1" strike="noStrike">
                <a:latin typeface="Arial"/>
              </a:rPr>
              <a:t>n</a:t>
            </a:r>
            <a:r>
              <a:rPr b="1" lang="en-US" sz="1600" spc="-1" strike="noStrike">
                <a:latin typeface="Arial"/>
              </a:rPr>
              <a:t>e</a:t>
            </a:r>
            <a:r>
              <a:rPr b="1" lang="en-US" sz="1600" spc="-1" strike="noStrike">
                <a:latin typeface="Arial"/>
              </a:rPr>
              <a:t>s</a:t>
            </a:r>
            <a:r>
              <a:rPr b="1" lang="en-US" sz="1600" spc="-1" strike="noStrike">
                <a:latin typeface="Arial"/>
              </a:rPr>
              <a:t>s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-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v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y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y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f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b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u</a:t>
            </a:r>
            <a:r>
              <a:rPr b="0" lang="en-US" sz="1600" spc="-1" strike="noStrike">
                <a:latin typeface="Arial"/>
              </a:rPr>
              <a:t>p</a:t>
            </a:r>
            <a:r>
              <a:rPr b="0" lang="en-US" sz="1600" spc="-1" strike="noStrike">
                <a:latin typeface="Arial"/>
              </a:rPr>
              <a:t>p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f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,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p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k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w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w</a:t>
            </a:r>
            <a:r>
              <a:rPr b="0" lang="en-US" sz="1600" spc="-1" strike="noStrike">
                <a:latin typeface="Arial"/>
              </a:rPr>
              <a:t>h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h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u</a:t>
            </a:r>
            <a:r>
              <a:rPr b="0" lang="en-US" sz="1600" spc="-1" strike="noStrike">
                <a:latin typeface="Arial"/>
              </a:rPr>
              <a:t>m</a:t>
            </a:r>
            <a:r>
              <a:rPr b="0" lang="en-US" sz="1600" spc="-1" strike="noStrike">
                <a:latin typeface="Arial"/>
              </a:rPr>
              <a:t>b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h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m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g</a:t>
            </a:r>
            <a:r>
              <a:rPr b="0" lang="en-US" sz="1600" spc="-1" strike="noStrike">
                <a:latin typeface="Arial"/>
              </a:rPr>
              <a:t>u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d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-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G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f</a:t>
            </a:r>
            <a:r>
              <a:rPr b="0" lang="en-US" sz="1600" spc="-1" strike="noStrike">
                <a:latin typeface="Arial"/>
              </a:rPr>
              <a:t>u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g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: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f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d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c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m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o</a:t>
            </a:r>
            <a:r>
              <a:rPr b="0" lang="en-US" sz="1600" spc="-1" strike="noStrike">
                <a:latin typeface="Arial"/>
              </a:rPr>
              <a:t>k</a:t>
            </a:r>
            <a:r>
              <a:rPr b="0" lang="en-US" sz="1600" spc="-1" strike="noStrike">
                <a:latin typeface="Arial"/>
              </a:rPr>
              <a:t>u</a:t>
            </a:r>
            <a:r>
              <a:rPr b="0" lang="en-US" sz="1600" spc="-1" strike="noStrike">
                <a:latin typeface="Arial"/>
              </a:rPr>
              <a:t>p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v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r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f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t</a:t>
            </a:r>
            <a:r>
              <a:rPr b="0" lang="en-US" sz="1600" spc="-1" strike="noStrike">
                <a:latin typeface="Arial"/>
              </a:rPr>
              <a:t>h</a:t>
            </a:r>
            <a:r>
              <a:rPr b="0" lang="en-US" sz="1600" spc="-1" strike="noStrike">
                <a:latin typeface="Arial"/>
              </a:rPr>
              <a:t>e</a:t>
            </a:r>
            <a:r>
              <a:rPr b="0" lang="en-US" sz="1600" spc="-1" strike="noStrike">
                <a:latin typeface="Arial"/>
              </a:rPr>
              <a:t> 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n</a:t>
            </a:r>
            <a:r>
              <a:rPr b="0" lang="en-US" sz="1600" spc="-1" strike="noStrike">
                <a:latin typeface="Arial"/>
              </a:rPr>
              <a:t>a</a:t>
            </a:r>
            <a:r>
              <a:rPr b="0" lang="en-US" sz="1600" spc="-1" strike="noStrike">
                <a:latin typeface="Arial"/>
              </a:rPr>
              <a:t>l</a:t>
            </a:r>
            <a:r>
              <a:rPr b="0" lang="en-US" sz="1600" spc="-1" strike="noStrike">
                <a:latin typeface="Arial"/>
              </a:rPr>
              <a:t>y</a:t>
            </a:r>
            <a:r>
              <a:rPr b="0" lang="en-US" sz="1600" spc="-1" strike="noStrike">
                <a:latin typeface="Arial"/>
              </a:rPr>
              <a:t>s</a:t>
            </a:r>
            <a:r>
              <a:rPr b="0" lang="en-US" sz="1600" spc="-1" strike="noStrike">
                <a:latin typeface="Arial"/>
              </a:rPr>
              <a:t>i</a:t>
            </a:r>
            <a:r>
              <a:rPr b="0" lang="en-US" sz="1600" spc="-1" strike="noStrike">
                <a:latin typeface="Arial"/>
              </a:rPr>
              <a:t>s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92;p18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62" name="Google Shape;93;p18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94;p18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Google Shape;95;p18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Process flow diagram or Use-case diagram</a:t>
            </a:r>
            <a:endParaRPr b="1" lang="en-US" sz="1600" spc="-1" strike="noStrike"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3"/>
          <a:stretch/>
        </p:blipFill>
        <p:spPr>
          <a:xfrm>
            <a:off x="722520" y="1105200"/>
            <a:ext cx="7049880" cy="3466800"/>
          </a:xfrm>
          <a:prstGeom prst="rect">
            <a:avLst/>
          </a:prstGeom>
          <a:ln w="0">
            <a:noFill/>
          </a:ln>
        </p:spPr>
      </p:pic>
      <p:sp>
        <p:nvSpPr>
          <p:cNvPr id="66" name=""/>
          <p:cNvSpPr txBox="1"/>
          <p:nvPr/>
        </p:nvSpPr>
        <p:spPr>
          <a:xfrm>
            <a:off x="265320" y="4341240"/>
            <a:ext cx="8650080" cy="99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latin typeface="Arial"/>
              </a:rPr>
              <a:t>Caption: Operator to retrofit plan.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latin typeface="Arial"/>
              </a:rPr>
              <a:t>Steps 3-6 are independent: a failed alert or climate lookup degrades the report, it never fails the analysis.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108;p20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68" name="Google Shape;109;p20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110;p20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" descr=""/>
          <p:cNvPicPr/>
          <p:nvPr/>
        </p:nvPicPr>
        <p:blipFill>
          <a:blip r:embed="rId3"/>
          <a:stretch/>
        </p:blipFill>
        <p:spPr>
          <a:xfrm>
            <a:off x="1143000" y="928440"/>
            <a:ext cx="7086600" cy="376488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111;p20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Architecture diagram of the proposed solution</a:t>
            </a:r>
            <a:endParaRPr b="1" lang="en-US" sz="16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09120" y="4539240"/>
            <a:ext cx="8458200" cy="70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latin typeface="Arial"/>
              </a:rPr>
              <a:t>Caption: Two containers on Cloud Run in asia-southeast1. The Maps key is mounted from </a:t>
            </a:r>
            <a:r>
              <a:rPr b="0" lang="en-US" sz="1600" spc="-1" strike="noStrike">
                <a:latin typeface="Arial"/>
              </a:rPr>
              <a:t>Secret Manager and proxied by the backend, so it never reaches a browser.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116;p21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74" name="Google Shape;117;p2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118;p21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Google Shape;119;p21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Technologies to be used in the solution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65320" y="1225440"/>
            <a:ext cx="8650080" cy="357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buNone/>
            </a:pPr>
            <a:r>
              <a:rPr b="1" lang="en-US" sz="1600" spc="-1" strike="noStrike">
                <a:latin typeface="Arial"/>
              </a:rPr>
              <a:t>Google Cloud: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Gemini 2.5 Flash (Vertex AI) — multimodal analysis with an enforced JSON schema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Cloud Run — both services, containerized, scale to zero, asia-southeast1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Firebase — Firestore as the system of record, Hosting for the public alert wall, and security </a:t>
            </a:r>
            <a:r>
              <a:rPr b="0" lang="en-US" sz="1600" spc="-1" strike="noStrike">
                <a:latin typeface="Arial"/>
              </a:rPr>
              <a:t>rules making curated alerts world-readable but never writable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BigQuery — NOAA GSOD public dataset for live ambient temperature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Pub/Sub — critical-zone alert fan-out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Cloud Storage — imagery cache shared across instances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Maps Static, Geocoding and Places APIs — imagery, place search and reverse naming, all </a:t>
            </a:r>
            <a:r>
              <a:rPr b="0" lang="en-US" sz="1600" spc="-1" strike="noStrike">
                <a:latin typeface="Arial"/>
              </a:rPr>
              <a:t>proxied server-side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Secret Manager · Artifact Registry · Cloud Build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endParaRPr b="0" lang="en-US" sz="1800" spc="-1" strike="noStrike">
              <a:latin typeface="Arial"/>
            </a:endParaRPr>
          </a:p>
          <a:p>
            <a:pPr algn="just">
              <a:buNone/>
            </a:pPr>
            <a:r>
              <a:rPr b="1" lang="en-US" sz="1600" spc="-1" strike="noStrike">
                <a:latin typeface="Arial"/>
              </a:rPr>
              <a:t>Application: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Python 3.10+ · FastAPI · Streamlit · Pydantic · Docker (multi-stage, non-root)</a:t>
            </a:r>
            <a:endParaRPr b="0" lang="en-US" sz="1600" spc="-1" strike="noStrike">
              <a:latin typeface="Arial"/>
            </a:endParaRPr>
          </a:p>
          <a:p>
            <a:pPr algn="just">
              <a:buNone/>
            </a:pPr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GitHub Actions CI/CD with Workload Identity Federation — no service-account keys exist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132;p23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79" name="Google Shape;133;p23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80" name="Google Shape;134;p23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135;p23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Snapshots of the prototype</a:t>
            </a:r>
            <a:endParaRPr b="1" lang="en-US" sz="1600" spc="-1" strike="noStrike"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3"/>
          <a:stretch/>
        </p:blipFill>
        <p:spPr>
          <a:xfrm>
            <a:off x="226080" y="1072800"/>
            <a:ext cx="6629400" cy="39114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 txBox="1"/>
          <p:nvPr/>
        </p:nvSpPr>
        <p:spPr>
          <a:xfrm>
            <a:off x="7086600" y="1143000"/>
            <a:ext cx="1828800" cy="370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latin typeface="Arial"/>
              </a:rPr>
              <a:t>Caption: Live analysis of </a:t>
            </a:r>
            <a:r>
              <a:rPr b="1" lang="en-US" sz="1600" spc="-1" strike="noStrike">
                <a:latin typeface="Arial"/>
              </a:rPr>
              <a:t>Pasir Panjang Terminal</a:t>
            </a:r>
            <a:r>
              <a:rPr b="0" lang="en-US" sz="1600" spc="-1" strike="noStrike">
                <a:latin typeface="Arial"/>
              </a:rPr>
              <a:t>, </a:t>
            </a:r>
            <a:r>
              <a:rPr b="1" lang="en-US" sz="1600" spc="-1" strike="noStrike">
                <a:latin typeface="Arial"/>
              </a:rPr>
              <a:t>Singapore</a:t>
            </a:r>
            <a:r>
              <a:rPr b="0" lang="en-US" sz="1600" spc="-1" strike="noStrike">
                <a:latin typeface="Arial"/>
              </a:rPr>
              <a:t>, from Google satellite imagery: HVI 8.6 CRITICAL, 0% tree canopy, ambient 31.0 °C measured from NOAA GSOD, and the Pub/Sub alert already visible to citizens on the public wall.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140;p24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85" name="Google Shape;141;p24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86" name="Google Shape;142;p24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Google Shape;143;p24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Prototype Performance report/Benchmarking</a:t>
            </a:r>
            <a:endParaRPr b="1" lang="en-US" sz="1600" spc="-1" strike="noStrike"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65320" y="1225440"/>
            <a:ext cx="8650080" cy="368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latin typeface="Arial"/>
              </a:rPr>
              <a:t>Latency — 21.6 s for the container-terminal coordinate, 12.6s for the park, 17.2s for an uploaded image. Coordinates also fetch and render satellite imagery. Cold start is now close to warm.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latin typeface="Arial"/>
              </a:rPr>
              <a:t>- Representative results, each reproduced on three consecutive runs: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latin typeface="Arial"/>
              </a:rPr>
              <a:t>  </a:t>
            </a:r>
            <a:r>
              <a:rPr b="0" lang="en-US" sz="1500" spc="-1" strike="noStrike">
                <a:latin typeface="Arial"/>
              </a:rPr>
              <a:t>- Pasir Panjang Terminal, Singapore — HVI 8.6 CRITICAL, 0% canopy, alert published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latin typeface="Arial"/>
              </a:rPr>
              <a:t>  </a:t>
            </a:r>
            <a:r>
              <a:rPr b="0" lang="en-US" sz="1500" spc="-1" strike="noStrike">
                <a:latin typeface="Arial"/>
              </a:rPr>
              <a:t>- Old Dhaka — HVI 8.5 CRITICAL, 0% canopy · Kolkata — 8.2 · Manila — 8.1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latin typeface="Arial"/>
              </a:rPr>
              <a:t>  </a:t>
            </a:r>
            <a:r>
              <a:rPr b="0" lang="en-US" sz="1500" spc="-1" strike="noStrike">
                <a:latin typeface="Arial"/>
              </a:rPr>
              <a:t>- Singapore Botanic Gardens — HVI 1.5 LOW, 100% canopy, no alert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latin typeface="Arial"/>
              </a:rPr>
              <a:t>- Climate grounding — live NOAA GSOD telemetry at 31.0 °C via BigQuery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latin typeface="Arial"/>
              </a:rPr>
              <a:t>- Quality — 815 automated tests, all offline; 96% backend coverage with no file below a 70% floor; 0 open P0 defects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latin typeface="Arial"/>
              </a:rPr>
              <a:t>- Reliability — /api/health reports gemini, Firestore, Pub/Sub and BigQuery independently; all four ready in production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latin typeface="Arial"/>
              </a:rPr>
              <a:t>- Safety — uploads that are not JPEG or PNG are rejected 415, including files disguised with an image content type; oversized uploads are rejected 413 before any model spend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latin typeface="Arial"/>
              </a:rPr>
              <a:t>- Security — no service-account key files anywhere; the Maps key is mounted from Secret Manager, never an environment variable; git leaks scans every push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latin typeface="Arial"/>
              </a:rPr>
              <a:t>- Delivery — five required CI checks gate every merge; a version tag deploys both services keylessly and verifies each separately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148;p25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90" name="Google Shape;149;p25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91" name="Google Shape;150;p25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Google Shape;151;p25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Additional Details/Future Development</a:t>
            </a:r>
            <a:endParaRPr b="1" lang="en-US" sz="1600" spc="-1" strike="noStrike"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65320" y="1225440"/>
            <a:ext cx="8650080" cy="372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latin typeface="Arial"/>
              </a:rPr>
              <a:t>Engineering challenges met</a:t>
            </a:r>
            <a:endParaRPr b="0" lang="en-US" sz="12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0" lang="en-US" sz="1200" spc="-1" strike="noStrike">
                <a:latin typeface="Arial"/>
              </a:rPr>
              <a:t>  </a:t>
            </a:r>
            <a:r>
              <a:rPr b="0" lang="en-US" sz="1200" spc="-1" strike="noStrike">
                <a:latin typeface="Arial"/>
              </a:rPr>
              <a:t>- A generative model will not reliably return parseable JSON on its own. The analyzer pins a response schema and the </a:t>
            </a:r>
            <a:r>
              <a:rPr b="0" lang="en-US" sz="1200" spc="-1" strike="noStrike">
                <a:latin typeface="Arial"/>
              </a:rPr>
              <a:t>backend refuses a non-conforming payload rather than showing a malformed report.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latin typeface="Arial"/>
              </a:rPr>
              <a:t>  </a:t>
            </a:r>
            <a:r>
              <a:rPr b="0" lang="en-US" sz="1200" spc="-1" strike="noStrike">
                <a:latin typeface="Arial"/>
              </a:rPr>
              <a:t>- Cloud Run scales to zero, so an in-process imagery cache died with the container. Moving it to Cloud Storage made </a:t>
            </a:r>
            <a:r>
              <a:rPr b="0" lang="en-US" sz="1200" spc="-1" strike="noStrike">
                <a:latin typeface="Arial"/>
              </a:rPr>
              <a:t>imagery survive scale-to-zero and be shared across instances.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latin typeface="Arial"/>
              </a:rPr>
              <a:t>  </a:t>
            </a:r>
            <a:r>
              <a:rPr b="0" lang="en-US" sz="1200" spc="-1" strike="noStrike">
                <a:latin typeface="Arial"/>
              </a:rPr>
              <a:t>- A map click could not write the coordinate inputs, because Streamlit forbids writing a widget key after that widget exists. </a:t>
            </a:r>
            <a:r>
              <a:rPr b="0" lang="en-US" sz="1200" spc="-1" strike="noStrike">
                <a:latin typeface="Arial"/>
              </a:rPr>
              <a:t>The click is deferred and applied on the next run, before any widget is created.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latin typeface="Arial"/>
              </a:rPr>
              <a:t>  </a:t>
            </a:r>
            <a:r>
              <a:rPr b="0" lang="en-US" sz="1200" spc="-1" strike="noStrike">
                <a:latin typeface="Arial"/>
              </a:rPr>
              <a:t>- Google answers 200 with a Plus Code and no country over open water, not ZERO_RESULTS. That absent country </a:t>
            </a:r>
            <a:r>
              <a:rPr b="0" lang="en-US" sz="1200" spc="-1" strike="noStrike">
                <a:latin typeface="Arial"/>
              </a:rPr>
              <a:t>became the signal for naming a point at sea.</a:t>
            </a:r>
            <a:endParaRPr b="0" lang="en-US" sz="12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1" lang="en-US" sz="1200" spc="-1" strike="noStrike">
                <a:latin typeface="Arial"/>
              </a:rPr>
              <a:t>Known limitations, stated plainly</a:t>
            </a:r>
            <a:endParaRPr b="0" lang="en-US" sz="12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0" lang="en-US" sz="1200" spc="-1" strike="noStrike">
                <a:latin typeface="Arial"/>
              </a:rPr>
              <a:t>  </a:t>
            </a:r>
            <a:r>
              <a:rPr b="0" lang="en-US" sz="1200" spc="-1" strike="noStrike">
                <a:latin typeface="Arial"/>
              </a:rPr>
              <a:t>- The model has no concept of water. Pointed at open sea it reads the dark surface as asphalt and scores it CRITICAL. </a:t>
            </a:r>
            <a:r>
              <a:rPr b="0" lang="en-US" sz="1200" spc="-1" strike="noStrike">
                <a:latin typeface="Arial"/>
              </a:rPr>
              <a:t>Found by fetching the imagery for a shipping lane and looking at it; the shipped presets are now all verified land, but a user </a:t>
            </a:r>
            <a:r>
              <a:rPr b="0" lang="en-US" sz="1200" spc="-1" strike="noStrike">
                <a:latin typeface="Arial"/>
              </a:rPr>
              <a:t>can still click the ocean. A water check is the next thing to build.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latin typeface="Arial"/>
              </a:rPr>
              <a:t>  </a:t>
            </a:r>
            <a:r>
              <a:rPr b="0" lang="en-US" sz="1200" spc="-1" strike="noStrike">
                <a:latin typeface="Arial"/>
              </a:rPr>
              <a:t>- HVI is model-inferred, so scores vary slightly between runs. It is a triage tool that says where to survey first; it does not </a:t>
            </a:r>
            <a:r>
              <a:rPr b="0" lang="en-US" sz="1200" spc="-1" strike="noStrike">
                <a:latin typeface="Arial"/>
              </a:rPr>
              <a:t>replace the survey.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latin typeface="Arial"/>
              </a:rPr>
              <a:t>  </a:t>
            </a:r>
            <a:r>
              <a:rPr b="0" lang="en-US" sz="1200" spc="-1" strike="noStrike">
                <a:latin typeface="Arial"/>
              </a:rPr>
              <a:t>- Given an image with no location metadata the model guesses coordinates, and can guess wrong. The report labels those </a:t>
            </a:r>
            <a:r>
              <a:rPr b="0" lang="en-US" sz="1200" spc="-1" strike="noStrike">
                <a:latin typeface="Arial"/>
              </a:rPr>
              <a:t>fields inferred rather than presenting them as fact.</a:t>
            </a:r>
            <a:endParaRPr b="0" lang="en-US" sz="1200" spc="-1" strike="noStrike">
              <a:latin typeface="Arial"/>
            </a:endParaRPr>
          </a:p>
          <a:p>
            <a:r>
              <a:rPr b="0" lang="en-US" sz="1200" spc="-1" strike="noStrike">
                <a:latin typeface="Arial"/>
              </a:rPr>
              <a:t>  </a:t>
            </a:r>
            <a:r>
              <a:rPr b="0" lang="en-US" sz="1200" spc="-1" strike="noStrike">
                <a:latin typeface="Arial"/>
              </a:rPr>
              <a:t>- A scan does not yet store the object URI of the exact image it analyzed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148;p 1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95" name="Google Shape;149;p 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96" name="Google Shape;150;p 2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Google Shape;151;p 2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Additional Details/Future Development (continued)</a:t>
            </a:r>
            <a:endParaRPr b="1" lang="en-US" sz="1600" spc="-1" strike="noStrike"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65320" y="1225440"/>
            <a:ext cx="8650080" cy="125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latin typeface="Arial"/>
              </a:rPr>
              <a:t>Future development</a:t>
            </a:r>
            <a:endParaRPr b="0" lang="en-US" sz="1400" spc="-1" strike="noStrike">
              <a:latin typeface="Arial"/>
            </a:endParaRPr>
          </a:p>
          <a:p>
            <a:endParaRPr b="0" lang="en-US" sz="12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  </a:t>
            </a:r>
            <a:r>
              <a:rPr b="0" lang="en-US" sz="1400" spc="-1" strike="noStrike">
                <a:latin typeface="Arial"/>
              </a:rPr>
              <a:t>- Time-series tracking per zone, to measure whether an intervention actually worked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  </a:t>
            </a:r>
            <a:r>
              <a:rPr b="0" lang="en-US" sz="1400" spc="-1" strike="noStrike">
                <a:latin typeface="Arial"/>
              </a:rPr>
              <a:t>- Batch analysis across a whole city grid, ranked by cooling impact per dollar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  </a:t>
            </a:r>
            <a:r>
              <a:rPr b="0" lang="en-US" sz="1400" spc="-1" strike="noStrike">
                <a:latin typeface="Arial"/>
              </a:rPr>
              <a:t>- Cost modeling attached to the blueprint for direct procurement use</a:t>
            </a:r>
            <a:endParaRPr b="0" lang="en-US" sz="1400" spc="-1" strike="noStrike">
              <a:latin typeface="Arial"/>
            </a:endParaRPr>
          </a:p>
          <a:p>
            <a:r>
              <a:rPr b="0" lang="en-US" sz="1400" spc="-1" strike="noStrike">
                <a:latin typeface="Arial"/>
              </a:rPr>
              <a:t>  </a:t>
            </a:r>
            <a:r>
              <a:rPr b="0" lang="en-US" sz="1400" spc="-1" strike="noStrike">
                <a:latin typeface="Arial"/>
              </a:rPr>
              <a:t>- Local-language citizen alerts, and routing to heat shelters during a heatwave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56;p26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57;p26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ln w="0">
            <a:noFill/>
          </a:ln>
        </p:spPr>
      </p:pic>
      <p:sp>
        <p:nvSpPr>
          <p:cNvPr id="101" name="Google Shape;158;p26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Google Shape;159;p26"/>
          <p:cNvSpPr/>
          <p:nvPr/>
        </p:nvSpPr>
        <p:spPr>
          <a:xfrm>
            <a:off x="265320" y="663840"/>
            <a:ext cx="8942760" cy="13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Provide links to your: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57200" y="1191600"/>
            <a:ext cx="8458200" cy="334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latin typeface="Arial"/>
              </a:rPr>
              <a:t>GitHub Public Repository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</a:t>
            </a:r>
            <a:r>
              <a:rPr b="0" lang="en-US" sz="1600" spc="-1" strike="noStrike">
                <a:latin typeface="Arial"/>
                <a:hlinkClick r:id="rId3"/>
              </a:rPr>
              <a:t>https://github.com/debabratahazra/hotspot-sentinels</a:t>
            </a:r>
            <a:endParaRPr b="0" lang="en-US" sz="16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1" lang="en-US" sz="1600" spc="-1" strike="noStrike">
                <a:latin typeface="Arial"/>
              </a:rPr>
              <a:t>Demo Video Link: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[INSERT VIDEO URL — 3 to 4 minutes, publicly accessible]</a:t>
            </a:r>
            <a:endParaRPr b="0" lang="en-US" sz="1600" spc="-1" strike="noStrike">
              <a:latin typeface="Arial"/>
            </a:endParaRPr>
          </a:p>
          <a:p>
            <a:endParaRPr b="0" lang="en-US" sz="1300" spc="-1" strike="noStrike">
              <a:latin typeface="Arial"/>
            </a:endParaRPr>
          </a:p>
          <a:p>
            <a:r>
              <a:rPr b="1" lang="en-US" sz="1600" spc="-1" strike="noStrike">
                <a:latin typeface="Arial"/>
              </a:rPr>
              <a:t>Final Product Link (deployed prototype):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latin typeface="Arial"/>
              </a:rPr>
              <a:t>- </a:t>
            </a:r>
            <a:r>
              <a:rPr b="0" lang="en-US" sz="1600" spc="-1" strike="noStrike">
                <a:latin typeface="Arial"/>
                <a:hlinkClick r:id="rId4"/>
              </a:rPr>
              <a:t>https://hotspot-frontend-153692178986.asia-southeast1.run.app</a:t>
            </a:r>
            <a:endParaRPr b="0" lang="en-US" sz="1600" spc="-1" strike="noStrike">
              <a:latin typeface="Arial"/>
            </a:endParaRPr>
          </a:p>
          <a:p>
            <a:endParaRPr b="0" lang="en-US" sz="1300" spc="-1" strike="noStrike">
              <a:latin typeface="Arial"/>
            </a:endParaRPr>
          </a:p>
          <a:p>
            <a:r>
              <a:rPr b="1" lang="en-US" sz="1600" spc="-1" strike="noStrike">
                <a:latin typeface="Arial"/>
              </a:rPr>
              <a:t>Public alert wall (live, no sign-in):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latin typeface="Arial"/>
              </a:rPr>
              <a:t>- </a:t>
            </a:r>
            <a:r>
              <a:rPr b="0" lang="en-US" sz="1600" spc="-1" strike="noStrike">
                <a:latin typeface="Arial"/>
                <a:hlinkClick r:id="rId5"/>
              </a:rPr>
              <a:t>https://hotspot-sentinels-7364.web.app</a:t>
            </a:r>
            <a:endParaRPr b="0" lang="en-US" sz="1600" spc="-1" strike="noStrike">
              <a:latin typeface="Arial"/>
            </a:endParaRPr>
          </a:p>
          <a:p>
            <a:endParaRPr b="0" lang="en-US" sz="1300" spc="-1" strike="noStrike">
              <a:latin typeface="Arial"/>
            </a:endParaRPr>
          </a:p>
          <a:p>
            <a:r>
              <a:rPr b="1" lang="en-US" sz="1600" spc="-1" strike="noStrike">
                <a:latin typeface="Arial"/>
              </a:rPr>
              <a:t>Backend API (health check):</a:t>
            </a:r>
            <a:endParaRPr b="0" lang="en-US" sz="1600" spc="-1" strike="noStrike">
              <a:latin typeface="Arial"/>
            </a:endParaRPr>
          </a:p>
          <a:p>
            <a:r>
              <a:rPr b="0" lang="en-US" sz="1600" spc="-1" strike="noStrike">
                <a:latin typeface="Arial"/>
              </a:rPr>
              <a:t>  </a:t>
            </a:r>
            <a:r>
              <a:rPr b="0" lang="en-US" sz="1600" spc="-1" strike="noStrike">
                <a:latin typeface="Arial"/>
              </a:rPr>
              <a:t>- </a:t>
            </a:r>
            <a:r>
              <a:rPr b="0" lang="en-US" sz="1600" spc="-1" strike="noStrike">
                <a:latin typeface="Arial"/>
                <a:hlinkClick r:id="rId6"/>
              </a:rPr>
              <a:t>https://hotspot-backend-153692178986.asia-southeast1.run.app/api/health</a:t>
            </a:r>
            <a:endParaRPr b="0" lang="en-US" sz="1600" spc="-1" strike="noStrike">
              <a:latin typeface="Arial"/>
            </a:endParaRPr>
          </a:p>
          <a:p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71;p28" descr=""/>
          <p:cNvPicPr/>
          <p:nvPr/>
        </p:nvPicPr>
        <p:blipFill>
          <a:blip r:embed="rId1"/>
          <a:srcRect l="0" t="0" r="0" b="98010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ln w="0">
            <a:noFill/>
          </a:ln>
        </p:spPr>
      </p:pic>
      <p:pic>
        <p:nvPicPr>
          <p:cNvPr id="105" name="Google Shape;172;p28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Application>PPTXPresentationEditor/1.2.0.0$MacOSX_AARCH64 LibreOffice_project/e114eadc50a9ff8d8c8a0567d6da8f454beeb84f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2026-10-14T12:44:11Z</dcterms:modified>
  <cp:revision>29</cp:revision>
  <dc:subject/>
  <dc:title/>
</cp:coreProperties>
</file>