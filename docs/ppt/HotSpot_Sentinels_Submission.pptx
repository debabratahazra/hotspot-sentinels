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_rels/slide14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2.xml.rels" ContentType="application/vnd.openxmlformats-package.relationships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11.xml.rels" ContentType="application/vnd.openxmlformats-package.relationships+xml"/>
  <Override PartName="/ppt/slides/_rels/slide10.xml.rels" ContentType="application/vnd.openxmlformats-package.relationship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6.png" ContentType="image/png"/>
  <Override PartName="/ppt/media/image21.png" ContentType="image/png"/>
  <Override PartName="/ppt/media/image11.png" ContentType="image/png"/>
  <Override PartName="/ppt/media/image7.png" ContentType="image/png"/>
  <Override PartName="/ppt/media/image22.png" ContentType="image/png"/>
  <Override PartName="/ppt/media/image8.png" ContentType="image/png"/>
  <Override PartName="/ppt/media/image23.png" ContentType="image/png"/>
  <Override PartName="/ppt/media/image9.png" ContentType="image/png"/>
  <Override PartName="/ppt/media/image24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6.png" ContentType="image/png"/>
  <Override PartName="/ppt/media/image17.png" ContentType="image/png"/>
  <Override PartName="/ppt/media/image5.png" ContentType="image/png"/>
  <Override PartName="/ppt/media/image20.png" ContentType="image/png"/>
  <Override PartName="/ppt/media/image19.png" ContentType="image/png"/>
  <Override PartName="/ppt/media/image25.png" ContentType="image/png"/>
  <Override PartName="/ppt/media/image26.png" ContentType="image/png"/>
  <Override PartName="/ppt/media/image28.png" ContentType="image/png"/>
  <Override PartName="/ppt/media/image10.png" ContentType="image/png"/>
  <Override PartName="/ppt/media/image29.png" ContentType="image/png"/>
  <Override PartName="/ppt/media/image27.png" ContentType="image/png"/>
  <Override PartName="/ppt/media/image18.png" ContentType="image/png"/>
  <Override PartName="/ppt/media/image15.png" ContentType="image/png"/>
  <Override PartName="/ppt/media/image30.png" ContentType="image/pn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5826453-FAFF-48B6-961F-F547E5AF2AAD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2A8CAF3-2312-4A0F-BA2F-2FA3726E1F7B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17DB948-F077-47BA-BFAE-EAF3024B582F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EE00D16-801D-442E-8575-C22D2862F2DD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34DF267-E5F0-492A-9FB9-9ABC541184F9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311760" y="744480"/>
            <a:ext cx="8519400" cy="95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0FDDAC2-4EBB-430E-9A76-D69038B0A533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3FBE72E-AFC3-4162-9C88-896B8F81F62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5850F89-48BC-4588-8B34-67137A0E14CF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AADAA76-CEF6-429E-A2DF-08B081E80465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D68D4D-D42A-47FE-8448-5111CC6E7574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6C5C14C-CB12-40C0-B49D-6249142CE78B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ECFAC1C-FA9D-4B64-B0AA-D86276B89D01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400" cy="205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GB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9019C41-E1A4-4291-B525-CA77506CEA4B}" type="slidenum">
              <a:rPr b="0" lang="en-GB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hyperlink" Target="https://github.com/debabratahazra/hotspot-sentinels" TargetMode="External"/><Relationship Id="rId4" Type="http://schemas.openxmlformats.org/officeDocument/2006/relationships/hyperlink" Target="https://www.youtube.com/watch?v=6styvZ6DFQE" TargetMode="External"/><Relationship Id="rId5" Type="http://schemas.openxmlformats.org/officeDocument/2006/relationships/hyperlink" Target="https://hotspot-frontend-153692178986.asia-southeast1.run.app/" TargetMode="External"/><Relationship Id="rId6" Type="http://schemas.openxmlformats.org/officeDocument/2006/relationships/hyperlink" Target="https://hotspot-sentinels-7364.web.app/" TargetMode="External"/><Relationship Id="rId7" Type="http://schemas.openxmlformats.org/officeDocument/2006/relationships/hyperlink" Target="https://hotspot-backend-153692178986.asia-southeast1.run.app/api/health" TargetMode="External"/><Relationship Id="rId8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54;p13"/>
          <p:cNvSpPr/>
          <p:nvPr/>
        </p:nvSpPr>
        <p:spPr>
          <a:xfrm>
            <a:off x="146520" y="2902680"/>
            <a:ext cx="8758800" cy="20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100" spc="-1" strike="noStrike">
                <a:solidFill>
                  <a:srgbClr val="000000"/>
                </a:solidFill>
                <a:latin typeface="Google Sans Flex SemiBold"/>
                <a:ea typeface="Google Sans Flex SemiBold"/>
              </a:rPr>
              <a:t>Team Details: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  <a:p>
            <a:pPr lvl="1" marL="914400" indent="-343080">
              <a:lnSpc>
                <a:spcPct val="100000"/>
              </a:lnSpc>
              <a:buClr>
                <a:srgbClr val="000000"/>
              </a:buClr>
              <a:buFont typeface="Google Sans Flex"/>
              <a:buAutoNum type="alphaL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Google Sans Flex"/>
                <a:ea typeface="Google Sans Flex"/>
              </a:rPr>
              <a:t>Team name: HotSpot Sentinels </a:t>
            </a:r>
            <a:endParaRPr b="0" lang="en-US" sz="1800" spc="-1" strike="noStrike">
              <a:latin typeface="Arial"/>
            </a:endParaRPr>
          </a:p>
          <a:p>
            <a:pPr lvl="1" marL="914400" indent="-343080">
              <a:lnSpc>
                <a:spcPct val="100000"/>
              </a:lnSpc>
              <a:buClr>
                <a:srgbClr val="000000"/>
              </a:buClr>
              <a:buFont typeface="Google Sans Flex"/>
              <a:buAutoNum type="alphaL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Google Sans Flex"/>
                <a:ea typeface="Google Sans Flex"/>
              </a:rPr>
              <a:t>Team leader name: Debabrata Hazra | Team member names: Debabrata Hazra, Deepthi Konda</a:t>
            </a:r>
            <a:endParaRPr b="0" lang="en-US" sz="1800" spc="-1" strike="noStrike">
              <a:latin typeface="Arial"/>
            </a:endParaRPr>
          </a:p>
          <a:p>
            <a:pPr lvl="1" marL="914400" indent="-343080">
              <a:lnSpc>
                <a:spcPct val="100000"/>
              </a:lnSpc>
              <a:buClr>
                <a:srgbClr val="000000"/>
              </a:buClr>
              <a:buFont typeface="Google Sans Flex"/>
              <a:buAutoNum type="alphaL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Google Sans Flex"/>
                <a:ea typeface="Google Sans Flex"/>
              </a:rPr>
              <a:t>Problem Statement: Sustainability and Social Impact — Urban heat islands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40" name="Google Shape;55;p13" descr=""/>
          <p:cNvPicPr/>
          <p:nvPr/>
        </p:nvPicPr>
        <p:blipFill>
          <a:blip r:embed="rId1"/>
          <a:stretch/>
        </p:blipFill>
        <p:spPr>
          <a:xfrm>
            <a:off x="0" y="0"/>
            <a:ext cx="9142920" cy="2714400"/>
          </a:xfrm>
          <a:prstGeom prst="rect">
            <a:avLst/>
          </a:prstGeom>
          <a:ln w="0">
            <a:noFill/>
          </a:ln>
        </p:spPr>
      </p:pic>
      <p:pic>
        <p:nvPicPr>
          <p:cNvPr id="41" name="Google Shape;56;p13" descr=""/>
          <p:cNvPicPr/>
          <p:nvPr/>
        </p:nvPicPr>
        <p:blipFill>
          <a:blip r:embed="rId2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69;p15" descr=""/>
          <p:cNvPicPr/>
          <p:nvPr/>
        </p:nvPicPr>
        <p:blipFill>
          <a:blip r:embed="rId1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43" name="Google Shape;70;p15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Google Shape;71;p15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Brief about the idea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265320" y="1155600"/>
            <a:ext cx="8834760" cy="35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Heat is the deadliest weather there is, and cities make it worse. Dark roofs and asphalt turn a neighborhood into an oven several degrees hotter than the land around it.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That heat kills the elderly and the outdoor poor, pushes street animals and urban wildlife out of their range, and forces air-conditioning demand that burns more carbon — which makes the next summer hotter still.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The barrier is not willingness. It is that nobody can point at one city block and say how bad this one is, and what exactly to do about it.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HotSpot Sentinels answers both in about fifteen seconds: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A 0–10 Heat Vulnerability Index with a risk band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The surface materials driving that score — asphalt, dark roof, concrete, canopy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A passive-cooling blueprint with quantities: corridor orientation, retroreflective coating in m², projected temperature drop in °C</a:t>
            </a:r>
            <a:endParaRPr b="0" lang="en-US" sz="15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When a zone scores CRITICAL it publishes a public alert automatically, so residents learn their street is dangerous without needing access to a planning dashboard.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76;p16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47" name="Google Shape;77;p16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48" name="Google Shape;78;p16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Google Shape;79;p16"/>
          <p:cNvSpPr/>
          <p:nvPr/>
        </p:nvSpPr>
        <p:spPr>
          <a:xfrm rot="4200">
            <a:off x="264960" y="669240"/>
            <a:ext cx="89420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SemiBold"/>
                <a:ea typeface="Google Sans Flex SemiBold"/>
              </a:rPr>
              <a:t>Opportunities</a:t>
            </a:r>
            <a:br>
              <a:rPr sz="1600"/>
            </a:b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228600" y="1086840"/>
            <a:ext cx="8686080" cy="371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Why this matters — environment, people, animals: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Measured on the live system: a container terminal at 0% tree canopy scores 8.6 CRITICAL; a national park at 100% canopy scores 1.5 LOW. Same model, same pipeline. That gap is exactly what tree cover and reflective surfaces buy a city.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The blueprint for one CRITICAL zone projects an 7–8 °C surface temperature drop — the difference between a heatwave that is survivable and one that is not, and a direct cut in cooling energy demand.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Cooler blocks mean habitable shade for street animals and urban wildlife, not only comfort for people indoors.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How it differs from existing ideas: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Most heat-island tools stop at a map showing where it is hot. This explains why — which surfaces cause it — and prescribes what to change, with quantities.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No thermal or LiDAR capture needed. It reads ordinary RGB imagery, so any city with satellite coverage can start today, including ones that cannot fund a survey.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USP: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  </a:t>
            </a:r>
            <a:r>
              <a:rPr b="0" lang="en-GB" sz="13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- Image or place name in, costed retrofit plan out, in about fifteen seconds — with a machine-readable contract that can feed procurement or GIS directly.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84;p17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52" name="Google Shape;85;p17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53" name="Google Shape;86;p17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Google Shape;87;p17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List of features offered by the solution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228600" y="1186200"/>
            <a:ext cx="868608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1" lang="en-US" sz="1300" spc="-1" strike="noStrike">
                <a:latin typeface="Arial"/>
              </a:rPr>
              <a:t>Analyze anywhere — four ways to choose a location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A shortcut list of 15 places across Asia, ordered most built-up to most green, so the list itself runs from CRITICAL down to LOW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Type three characters and pick from live Google Places suggestions, down to neighborhood level; click any point on a world map; or paste coordinates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A clicked point is named automatically — city and country on land, or the sea or ocean at sea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Whichever method is used, both search boxes and the coordinate fields update together, so the screen never names one place while analyzing another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1" lang="en-US" sz="1300" spc="-1" strike="noStrike">
                <a:latin typeface="Arial"/>
              </a:rPr>
              <a:t>Analysis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Upload an aerial image, or analyze a coordinate from live Google satellite imagery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- 0–10 Heat Vulnerability Index with LOW / MODERATE / HIGH / CRITICAL banding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Surface-material breakdown that always totals 100%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Passive-cooling blueprint in metric units — m², °C, corridor orientation</a:t>
            </a:r>
            <a:endParaRPr b="0" lang="en-US" sz="13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300" spc="-1" strike="noStrike">
                <a:latin typeface="Arial"/>
              </a:rPr>
              <a:t>  </a:t>
            </a:r>
            <a:r>
              <a:rPr b="0" lang="en-US" sz="1300" spc="-1" strike="noStrike">
                <a:latin typeface="Arial"/>
              </a:rPr>
              <a:t>- Live ambient temperature from NOAA GSOD via BigQuery, with an offline fallback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84;p 1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57" name="Google Shape;85;p 2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58" name="Google Shape;86;p 2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Google Shape;87;p 2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List of features offered by the solution (continued)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subTitle"/>
          </p:nvPr>
        </p:nvSpPr>
        <p:spPr>
          <a:xfrm>
            <a:off x="228600" y="1180800"/>
            <a:ext cx="868608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buNone/>
            </a:pPr>
            <a:r>
              <a:rPr b="1" lang="en-US" sz="1600" spc="-1" strike="noStrike">
                <a:latin typeface="Arial"/>
              </a:rPr>
              <a:t>Reaching people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  </a:t>
            </a:r>
            <a:r>
              <a:rPr b="0" lang="en-US" sz="1600" spc="-1" strike="noStrike">
                <a:latin typeface="Arial"/>
              </a:rPr>
              <a:t>- Automatic Pub/Sub alert the moment a zone is CRITICAL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  </a:t>
            </a:r>
            <a:r>
              <a:rPr b="0" lang="en-US" sz="1600" spc="-1" strike="noStrike">
                <a:latin typeface="Arial"/>
              </a:rPr>
              <a:t>- Public alert wall on Firebase Hosting — citizens see critical zones appear live, while operator scan data stays private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  </a:t>
            </a:r>
            <a:r>
              <a:rPr b="0" lang="en-US" sz="1600" spc="-1" strike="noStrike">
                <a:latin typeface="Arial"/>
              </a:rPr>
              <a:t>- City-wide map of every analyzed zone colored by risk: a retrofit queue ordered worst-first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1" lang="en-US" sz="1600" spc="-1" strike="noStrike">
                <a:latin typeface="Arial"/>
              </a:rPr>
              <a:t>Trustworthiness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  </a:t>
            </a:r>
            <a:r>
              <a:rPr b="0" lang="en-US" sz="1600" spc="-1" strike="noStrike">
                <a:latin typeface="Arial"/>
              </a:rPr>
              <a:t>- Every identity field is labelled supplied or inferred, so a planner knows which numbers the model guessed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latin typeface="Arial"/>
              </a:rPr>
              <a:t>  </a:t>
            </a:r>
            <a:r>
              <a:rPr b="0" lang="en-US" sz="1600" spc="-1" strike="noStrike">
                <a:latin typeface="Arial"/>
              </a:rPr>
              <a:t>- Graceful degradation: a failed alert or climate lookup never fails the analysis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92;p18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62" name="Google Shape;93;p18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63" name="Google Shape;94;p18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Google Shape;95;p18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Process flow diagram or Use-case diagram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3"/>
          <a:stretch/>
        </p:blipFill>
        <p:spPr>
          <a:xfrm>
            <a:off x="722520" y="1105200"/>
            <a:ext cx="7049160" cy="3466080"/>
          </a:xfrm>
          <a:prstGeom prst="rect">
            <a:avLst/>
          </a:prstGeom>
          <a:ln w="0">
            <a:noFill/>
          </a:ln>
        </p:spPr>
      </p:pic>
      <p:sp>
        <p:nvSpPr>
          <p:cNvPr id="66" name=""/>
          <p:cNvSpPr/>
          <p:nvPr/>
        </p:nvSpPr>
        <p:spPr>
          <a:xfrm>
            <a:off x="265320" y="4341240"/>
            <a:ext cx="8649360" cy="99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Caption: Operator to retrofit plan.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Steps 3-6 are independent: a failed alert or climate lookup degrades the report, it never fails the analysis.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108;p20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68" name="Google Shape;109;p20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69" name="Google Shape;110;p20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" descr=""/>
          <p:cNvPicPr/>
          <p:nvPr/>
        </p:nvPicPr>
        <p:blipFill>
          <a:blip r:embed="rId3"/>
          <a:stretch/>
        </p:blipFill>
        <p:spPr>
          <a:xfrm>
            <a:off x="1143000" y="928440"/>
            <a:ext cx="7085880" cy="3764160"/>
          </a:xfrm>
          <a:prstGeom prst="rect">
            <a:avLst/>
          </a:prstGeom>
          <a:ln w="0">
            <a:noFill/>
          </a:ln>
        </p:spPr>
      </p:pic>
      <p:sp>
        <p:nvSpPr>
          <p:cNvPr id="71" name="Google Shape;111;p20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Architecture diagram of the proposed solution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609120" y="4539240"/>
            <a:ext cx="845748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Caption: Two containers on Cloud Run in asia-southeast1. The Maps key is mounted from Secret Manager and proxied by the backend, so it never reaches a browser.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116;p21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74" name="Google Shape;117;p21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75" name="Google Shape;118;p21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Google Shape;119;p21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Technologies to be used in the solution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265320" y="1225440"/>
            <a:ext cx="8649360" cy="35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Google Cloud: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Gemini 2.5 Flash (Vertex AI) — multimodal analysis with an enforced JSON schema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Cloud Run — both services, containerized, scale to zero, asia-southeast1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Firebase — Firestore as the system of record, Hosting for the public alert wall, and security rules making curated alerts world-readable but never writable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BigQuery — NOAA GSOD public dataset for live ambient temperature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Pub/Sub — critical-zone alert fan-out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Cloud Storage — imagery cache shared across instances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Maps Static, Geocoding and Places APIs — imagery, place search and reverse naming, all proxied server-side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Secret Manager · Artifact Registry · Cloud Build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Application: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Python 3.10+ · FastAPI · Streamlit · Pydantic · Docker (multi-stage, non-root)</a:t>
            </a:r>
            <a:endParaRPr b="0" lang="en-US" sz="16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GitHub Actions CI/CD with Workload Identity Federation — no service-account keys exist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132;p23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79" name="Google Shape;133;p23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80" name="Google Shape;134;p23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Google Shape;135;p23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Snapshots of the prototype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82" name="" descr=""/>
          <p:cNvPicPr/>
          <p:nvPr/>
        </p:nvPicPr>
        <p:blipFill>
          <a:blip r:embed="rId3"/>
          <a:stretch/>
        </p:blipFill>
        <p:spPr>
          <a:xfrm>
            <a:off x="226080" y="1072800"/>
            <a:ext cx="6628680" cy="391068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/>
          <p:nvPr/>
        </p:nvSpPr>
        <p:spPr>
          <a:xfrm>
            <a:off x="7086600" y="1143000"/>
            <a:ext cx="1828080" cy="37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Caption: Live analysis of </a:t>
            </a: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Pasir Panjang Terminal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 </a:t>
            </a: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Singapore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 from Google satellite imagery: HVI 8.6 CRITICAL, 0% tree canopy, ambient 31.0 °C measured from NOAA GSOD, and the Pub/Sub alert already visible to citizens on the public wall.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140;p24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85" name="Google Shape;141;p24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86" name="Google Shape;142;p24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Google Shape;143;p24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Prototype Performance report/Benchmarking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65320" y="1117440"/>
            <a:ext cx="8649360" cy="36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Latency — 21.6 s for the container-terminal coordinate, 12.6 s for the park, 17.2 s for an uploaded image. Coordinates also fetch and render satellite imagery. Cold start is now close to warm.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Representative results, each reproduced on three consecutive runs: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Pasir Panjang Terminal, Singapore — HVI 8.6 CRITICAL, 0% canopy, alert published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Old Dhaka — HVI 8.5 CRITICAL, 0% canopy · Kolkata — 8.2 · Manila — 8.1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Singapore Botanic Gardens — HVI 1.5 LOW, 100% canopy, no alert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Climate grounding — live NOAA GSOD telemetry at 31.0 °C via BigQuery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Quality — 815 automated tests, all offline; 96% backend coverage with no file below a 70% floor; 0 open P0 defects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Reliability — /api/health reports gemini, Firestore, Pub/Sub and BigQuery independently; all four ready in production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Safety — uploads that are not JPEG or PNG are rejected 415, including files disguised with an image content type; oversized uploads are rejected 413 before any model spend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Security — no service-account key files anywhere; the Maps key is mounted from Secret Manager, never an environment variable; gitleaks scans every push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Delivery — five required CI checks gate every merge; a version tag deploys both services keylessly and verifies each separately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148;p25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149;p25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150;p25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Google Shape;151;p25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Additional Details/Future Development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65320" y="1081440"/>
            <a:ext cx="8649360" cy="37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Engineering challenges met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A generative model will not reliably return parseable JSON on its own. The analyzer pins a response schema and the backend refuses a non-conforming payload rather than showing a malformed report.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Cloud Run scales to zero, so an in-process imagery cache died with the container. Moving it to Cloud Storage made imagery survive scale-to-zero and be shared across instances.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A map click could not write the coordinate inputs, because Streamlit forbids writing a widget key after that widget exists. The click is deferred and applied on the next run, before any widget is created.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Google answers 200 with a Plus Code and no country over open water, not ZERO_RESULTS. That absent country became the signal for naming a point at sea.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Known limitations, stated plainly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The model has no concept of water. Pointed at open sea it reads the dark surface as asphalt and scores it CRITICAL. Found by fetching the imagery for a shipping lane and looking at it; the shipped presets are now all verified land, but a user can still click the ocean. A water check is the next thing to build.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HVI is model-inferred, so scores vary slightly between runs. It is a triage tool that says where to survey first; it does not replace the survey.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Given an image with no location metadata the model guesses coordinates, and can guess wrong. The report labels those fields inferred rather than presenting them as fact.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- A scan does not yet store the object URI of the exact image it analyzed.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148;p 1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95" name="Google Shape;149;p 2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96" name="Google Shape;150;p 2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Google Shape;151;p 2"/>
          <p:cNvSpPr/>
          <p:nvPr/>
        </p:nvSpPr>
        <p:spPr>
          <a:xfrm>
            <a:off x="265320" y="663840"/>
            <a:ext cx="894204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Additional Details/Future Development (continued)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265320" y="1225440"/>
            <a:ext cx="8649360" cy="12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Future development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- Time-series tracking per zone, to measure whether an intervention actually worked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- Batch analysis across a whole city grid, ranked by cooling impact per dollar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- Cost modeling attached to the blueprint for direct procurement use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- Local-language citizen alerts, and routing to heat shelters during a heatwave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156;p26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100" name="Google Shape;157;p26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06160"/>
          </a:xfrm>
          <a:prstGeom prst="rect">
            <a:avLst/>
          </a:prstGeom>
          <a:ln w="0">
            <a:noFill/>
          </a:ln>
        </p:spPr>
      </p:pic>
      <p:sp>
        <p:nvSpPr>
          <p:cNvPr id="101" name="Google Shape;158;p26"/>
          <p:cNvSpPr/>
          <p:nvPr/>
        </p:nvSpPr>
        <p:spPr>
          <a:xfrm>
            <a:off x="-29160" y="5072040"/>
            <a:ext cx="9172440" cy="968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Google Shape;159;p26"/>
          <p:cNvSpPr/>
          <p:nvPr/>
        </p:nvSpPr>
        <p:spPr>
          <a:xfrm>
            <a:off x="265320" y="663840"/>
            <a:ext cx="8942040" cy="13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1600" spc="-1" strike="noStrike">
                <a:solidFill>
                  <a:srgbClr val="000000"/>
                </a:solidFill>
                <a:latin typeface="Google Sans Flex Medium"/>
                <a:ea typeface="Google Sans Flex Medium"/>
              </a:rPr>
              <a:t>Provide links to your: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457200" y="1191600"/>
            <a:ext cx="8457480" cy="33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GitHub Public Repository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</a:t>
            </a:r>
            <a:r>
              <a:rPr b="0" lang="en-US" sz="1600" spc="-1" strike="noStrike" u="sng">
                <a:solidFill>
                  <a:srgbClr val="0097a7"/>
                </a:solidFill>
                <a:uFillTx/>
                <a:latin typeface="Arial"/>
                <a:ea typeface="DejaVu Sans"/>
                <a:hlinkClick r:id="rId3"/>
              </a:rPr>
              <a:t>https://github.com/debabratahazra/hotspot-sentinels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Demo Video Link: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</a:t>
            </a:r>
            <a:r>
              <a:rPr b="0" lang="en-US" sz="1600" spc="-1" strike="noStrike" u="sng">
                <a:solidFill>
                  <a:srgbClr val="0097a7"/>
                </a:solidFill>
                <a:uFillTx/>
                <a:latin typeface="Arial"/>
                <a:ea typeface="DejaVu Sans"/>
                <a:hlinkClick r:id="rId4"/>
              </a:rPr>
              <a:t>https://www.youtube.com/watch?v=6styvZ6DFQE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Final Product Link (deployed prototype):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</a:t>
            </a:r>
            <a:r>
              <a:rPr b="0" lang="en-US" sz="1600" spc="-1" strike="noStrike" u="sng">
                <a:solidFill>
                  <a:srgbClr val="0097a7"/>
                </a:solidFill>
                <a:uFillTx/>
                <a:latin typeface="Arial"/>
                <a:ea typeface="DejaVu Sans"/>
                <a:hlinkClick r:id="rId5"/>
              </a:rPr>
              <a:t>https://hotspot-frontend-153692178986.asia-southeast1.run.app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Public alert wall (live, no sign-in):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</a:t>
            </a:r>
            <a:r>
              <a:rPr b="0" lang="en-US" sz="1600" spc="-1" strike="noStrike" u="sng">
                <a:solidFill>
                  <a:srgbClr val="0097a7"/>
                </a:solidFill>
                <a:uFillTx/>
                <a:latin typeface="Arial"/>
                <a:ea typeface="DejaVu Sans"/>
                <a:hlinkClick r:id="rId6"/>
              </a:rPr>
              <a:t>https://hotspot-sentinels-7364.web.app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Backend API (health check):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</a:t>
            </a:r>
            <a:r>
              <a:rPr b="0" lang="en-US" sz="1600" spc="-1" strike="noStrike" u="sng">
                <a:solidFill>
                  <a:srgbClr val="0097a7"/>
                </a:solidFill>
                <a:uFillTx/>
                <a:latin typeface="Arial"/>
                <a:ea typeface="DejaVu Sans"/>
                <a:hlinkClick r:id="rId7"/>
              </a:rPr>
              <a:t>https://hotspot-backend-153692178986.asia-southeast1.run.app/api/health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71;p28" descr=""/>
          <p:cNvPicPr/>
          <p:nvPr/>
        </p:nvPicPr>
        <p:blipFill>
          <a:blip r:embed="rId1"/>
          <a:srcRect l="0" t="0" r="0" b="98031"/>
          <a:stretch/>
        </p:blipFill>
        <p:spPr>
          <a:xfrm>
            <a:off x="0" y="5093640"/>
            <a:ext cx="9142920" cy="53280"/>
          </a:xfrm>
          <a:prstGeom prst="rect">
            <a:avLst/>
          </a:prstGeom>
          <a:ln w="0">
            <a:noFill/>
          </a:ln>
        </p:spPr>
      </p:pic>
      <p:pic>
        <p:nvPicPr>
          <p:cNvPr id="105" name="Google Shape;172;p28" descr=""/>
          <p:cNvPicPr/>
          <p:nvPr/>
        </p:nvPicPr>
        <p:blipFill>
          <a:blip r:embed="rId2"/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Application>PPTXPresentationEditor/1.2.0.0$MacOSX_AARCH64 LibreOffice_project/e114eadc50a9ff8d8c8a0567d6da8f454beeb84f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2026-10-15T21:06:37Z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