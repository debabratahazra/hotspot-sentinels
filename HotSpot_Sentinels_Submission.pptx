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[FILL IN]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[FILL IN]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Sustainability and Social Impact — urban heat islands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/>
              <a:t>HotSpot Sentinels turns ordinary aerial or satellite imagery into an actionable urban-heat retrofit plan.</a:t>
            </a:r>
            <a:endParaRPr/>
          </a:p>
          <a:p>
            <a:pPr/>
            <a:r>
              <a:rPr sz="1300" b="0"/>
              <a:t>Upload a district image, or simply name a coordinate. The system returns:</a:t>
            </a:r>
          </a:p>
          <a:p>
            <a:pPr lvl="1"/>
            <a:r>
              <a:rPr sz="1300" b="0"/>
              <a:t>A 0–10 Heat Vulnerability Index (HVI) with a risk band</a:t>
            </a:r>
          </a:p>
          <a:p>
            <a:pPr lvl="1"/>
            <a:r>
              <a:rPr sz="1300" b="0"/>
              <a:t>The surface-material breakdown driving that score — asphalt, dark roof, concrete, canopy</a:t>
            </a:r>
          </a:p>
          <a:p>
            <a:pPr lvl="1"/>
            <a:r>
              <a:rPr sz="1300" b="0"/>
              <a:t>A passive-cooling blueprint: wind-corridor orientation, retroreflective coating area in m², and projected surface temperature drop in °C</a:t>
            </a:r>
          </a:p>
          <a:p>
            <a:pPr/>
            <a:r>
              <a:rPr sz="1300" b="0"/>
              <a:t>When a zone scores CRITICAL, an alert is published automatically so the right team hears about it without anyone watching a dashboard.</a:t>
            </a:r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/>
              <a:t>How it differs from existing ideas</a:t>
            </a:r>
            <a:endParaRPr/>
          </a:p>
          <a:p>
            <a:pPr lvl="1"/>
            <a:r>
              <a:rPr sz="1300" b="0"/>
              <a:t>Most heat-island tools stop at a map that shows where it is hot. This one explains why — which surfaces cause it — and prescribes what to change, with quantities.</a:t>
            </a:r>
          </a:p>
          <a:p>
            <a:pPr lvl="1"/>
            <a:r>
              <a:rPr sz="1300" b="0"/>
              <a:t>No specialist thermal or LiDAR capture needed. It reads ordinary RGB imagery, so any city with satellite coverage can use it today.</a:t>
            </a:r>
          </a:p>
          <a:p>
            <a:pPr/>
            <a:r>
              <a:rPr sz="1300" b="1"/>
              <a:t>How it solves the problem</a:t>
            </a:r>
          </a:p>
          <a:p>
            <a:pPr lvl="1"/>
            <a:r>
              <a:rPr sz="1300" b="0"/>
              <a:t>Planners get a costed, specific intervention per zone instead of a heat map they must interpret themselves.</a:t>
            </a:r>
          </a:p>
          <a:p>
            <a:pPr lvl="1"/>
            <a:r>
              <a:rPr sz="1300" b="0"/>
              <a:t>Measured surface temperature is grounded in live NOAA climate telemetry, not assumed.</a:t>
            </a:r>
          </a:p>
          <a:p>
            <a:pPr/>
            <a:r>
              <a:rPr sz="1300" b="1"/>
              <a:t>USP</a:t>
            </a:r>
          </a:p>
          <a:p>
            <a:pPr lvl="1"/>
            <a:r>
              <a:rPr sz="1300" b="0"/>
              <a:t>Image in, retrofit plan out, in about 15 seconds — with a machine-readable contract so the output can feed procurement or GIS systems directly.</a:t>
            </a:r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0"/>
              <a:t>Dual input: upload an aerial image, or analyse any coordinate from live satellite imagery</a:t>
            </a:r>
            <a:endParaRPr/>
          </a:p>
          <a:p>
            <a:pPr/>
            <a:r>
              <a:rPr sz="1100" b="0"/>
              <a:t>0–10 Heat Vulnerability Index with LOW / MODERATE / HIGH / CRITICAL banding</a:t>
            </a:r>
          </a:p>
          <a:p>
            <a:pPr/>
            <a:r>
              <a:rPr sz="1100" b="0"/>
              <a:t>Surface-material breakdown that always totals 100%</a:t>
            </a:r>
          </a:p>
          <a:p>
            <a:pPr/>
            <a:r>
              <a:rPr sz="1100" b="0"/>
              <a:t>Passive-cooling blueprint with metric quantities — m², °C, corridor orientation</a:t>
            </a:r>
          </a:p>
          <a:p>
            <a:pPr/>
            <a:r>
              <a:rPr sz="1100" b="0"/>
              <a:t>Live ambient temperature from the NOAA GSOD public dataset, with an offline fallback</a:t>
            </a:r>
          </a:p>
          <a:p>
            <a:pPr/>
            <a:r>
              <a:rPr sz="1100" b="0"/>
              <a:t>Automatic Pub/Sub alert the moment a zone is CRITICAL</a:t>
            </a:r>
          </a:p>
          <a:p>
            <a:pPr/>
            <a:r>
              <a:rPr sz="1100" b="0"/>
              <a:t>Persistent scan history, queryable through the API</a:t>
            </a:r>
          </a:p>
          <a:p>
            <a:pPr/>
            <a:r>
              <a:rPr sz="1100" b="0"/>
              <a:t>Health endpoint reporting every dependency independently</a:t>
            </a:r>
          </a:p>
          <a:p>
            <a:pPr/>
            <a:r>
              <a:rPr sz="1100" b="0"/>
              <a:t>Graceful degradation: a failed alert or climate lookup never fails the analysis</a:t>
            </a:r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/>
              <a:t>[INSERT DIAGRAM — described below]</a:t>
            </a:r>
            <a:endParaRPr/>
          </a:p>
          <a:p>
            <a:pPr/>
            <a:r>
              <a:rPr sz="1100" b="0"/>
              <a:t>1. Operator uploads an image or selects a coordinate in the Streamlit dashboard</a:t>
            </a:r>
          </a:p>
          <a:p>
            <a:pPr/>
            <a:r>
              <a:rPr sz="1100" b="0"/>
              <a:t>2. Dashboard POSTs to /api/analyze on the FastAPI service (Cloud Run)</a:t>
            </a:r>
          </a:p>
          <a:p>
            <a:pPr/>
            <a:r>
              <a:rPr sz="1100" b="0"/>
              <a:t>3. For a coordinate, the backend fetches attributed satellite imagery from the Maps Static API and shares it via Cloud Storage so any instance can serve it</a:t>
            </a:r>
          </a:p>
          <a:p>
            <a:pPr/>
            <a:r>
              <a:rPr sz="1100" b="0"/>
              <a:t>4. BigQuery returns live NOAA GSOD ambient temperature for the location</a:t>
            </a:r>
          </a:p>
          <a:p>
            <a:pPr/>
            <a:r>
              <a:rPr sz="1100" b="0"/>
              <a:t>5. Gemini 2.5 Flash reads the imagery and returns a schema-constrained JSON report</a:t>
            </a:r>
          </a:p>
          <a:p>
            <a:pPr/>
            <a:r>
              <a:rPr sz="1100" b="0"/>
              <a:t>6. The report is persisted to Firestore</a:t>
            </a:r>
          </a:p>
          <a:p>
            <a:pPr/>
            <a:r>
              <a:rPr sz="1100" b="0"/>
              <a:t>7. If risk is CRITICAL, an alert is published to Pub/Sub</a:t>
            </a:r>
          </a:p>
          <a:p>
            <a:pPr/>
            <a:r>
              <a:rPr sz="1100" b="0"/>
              <a:t>8. The dashboard renders the HVI gauge, surface chart and cooling blueprint</a:t>
            </a:r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/>
              <a:t>[INSERT DIAGRAM — components below]</a:t>
            </a:r>
            <a:endParaRPr/>
          </a:p>
          <a:p>
            <a:pPr/>
            <a:r>
              <a:rPr sz="1100" b="0"/>
              <a:t>Frontend — Streamlit on Cloud Run (asia-southeast1), its own container</a:t>
            </a:r>
          </a:p>
          <a:p>
            <a:pPr/>
            <a:r>
              <a:rPr sz="1100" b="0"/>
              <a:t>Backend — FastAPI on Cloud Run, the only HTTP layer; async orchestration</a:t>
            </a:r>
          </a:p>
          <a:p>
            <a:pPr/>
            <a:r>
              <a:rPr sz="1100" b="0"/>
              <a:t>AI — Gemini 2.5 Flash via the google-genai SDK, structured JSON response schema</a:t>
            </a:r>
          </a:p>
          <a:p>
            <a:pPr/>
            <a:r>
              <a:rPr sz="1100" b="0"/>
              <a:t>Data — Firestore (scan records) · BigQuery (NOAA GSOD) · Cloud Storage (shared imagery cache)</a:t>
            </a:r>
          </a:p>
          <a:p>
            <a:pPr/>
            <a:r>
              <a:rPr sz="1100" b="0"/>
              <a:t>Messaging — Pub/Sub topic for CRITICAL alerts</a:t>
            </a:r>
          </a:p>
          <a:p>
            <a:pPr/>
            <a:r>
              <a:rPr sz="1100" b="0"/>
              <a:t>Secrets — Secret Manager; the Maps key is mounted, never an environment variable</a:t>
            </a:r>
          </a:p>
          <a:p>
            <a:pPr/>
            <a:r>
              <a:rPr sz="1100" b="0"/>
              <a:t>Identity — one runtime service account with six narrow roles and zero key files</a:t>
            </a:r>
          </a:p>
          <a:p>
            <a:pPr/>
            <a:r>
              <a:rPr sz="1100" b="0"/>
              <a:t>Delivery — GitHub Actions; a version tag deploys both services via Workload Identity Federation</a:t>
            </a:r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/>
              <a:t>Google Cloud</a:t>
            </a:r>
            <a:endParaRPr/>
          </a:p>
          <a:p>
            <a:pPr lvl="1"/>
            <a:r>
              <a:rPr sz="1100" b="0"/>
              <a:t>Gemini 2.5 Flash (Vertex AI) — multimodal analysis with enforced JSON schema</a:t>
            </a:r>
          </a:p>
          <a:p>
            <a:pPr lvl="1"/>
            <a:r>
              <a:rPr sz="1100" b="0"/>
              <a:t>Cloud Run — both services, containerised, scale to zero, asia-southeast1</a:t>
            </a:r>
          </a:p>
          <a:p>
            <a:pPr lvl="1"/>
            <a:r>
              <a:rPr sz="1100" b="0"/>
              <a:t>Firestore — Firebase's document database, Native mode; system of record for every scan</a:t>
            </a:r>
          </a:p>
          <a:p>
            <a:pPr lvl="1"/>
            <a:r>
              <a:rPr sz="1100" b="0"/>
              <a:t>BigQuery — NOAA GSOD public dataset for live ambient temperature</a:t>
            </a:r>
          </a:p>
          <a:p>
            <a:pPr lvl="1"/>
            <a:r>
              <a:rPr sz="1100" b="0"/>
              <a:t>Pub/Sub — critical-zone alert fan-out</a:t>
            </a:r>
          </a:p>
          <a:p>
            <a:pPr lvl="1"/>
            <a:r>
              <a:rPr sz="1100" b="0"/>
              <a:t>Cloud Storage — imagery cache shared across instances</a:t>
            </a:r>
          </a:p>
          <a:p>
            <a:pPr lvl="1"/>
            <a:r>
              <a:rPr sz="1100" b="0"/>
              <a:t>Secret Manager · Artifact Registry · Maps Static API</a:t>
            </a:r>
          </a:p>
          <a:p>
            <a:pPr/>
            <a:r>
              <a:rPr sz="1100" b="1"/>
              <a:t>Application</a:t>
            </a:r>
          </a:p>
          <a:p>
            <a:pPr lvl="1"/>
            <a:r>
              <a:rPr sz="1100" b="0"/>
              <a:t>Python 3.10+ · FastAPI · Streamlit · Pydantic · Docker (multi-stage, non-root)</a:t>
            </a:r>
          </a:p>
          <a:p>
            <a:pPr lvl="1"/>
            <a:r>
              <a:rPr sz="1100" b="0"/>
              <a:t>GitHub Actions CI/CD with Workload Identity Federation — no service-account keys</a:t>
            </a:r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/>
              <a:t>[INSERT SCREENSHOTS]</a:t>
            </a:r>
            <a:endParaRPr/>
          </a:p>
          <a:p>
            <a:pPr/>
            <a:r>
              <a:rPr sz="1300" b="0"/>
              <a:t>Suggested captures from the live dashboard:</a:t>
            </a:r>
          </a:p>
          <a:p>
            <a:pPr lvl="1"/>
            <a:r>
              <a:rPr sz="1300" b="0"/>
              <a:t>1. Dashboard landing view with the analysis controls</a:t>
            </a:r>
          </a:p>
          <a:p>
            <a:pPr lvl="1"/>
            <a:r>
              <a:rPr sz="1300" b="0"/>
              <a:t>2. A CRITICAL result — HVI gauge, risk badge and the Pub/Sub alert banner</a:t>
            </a:r>
          </a:p>
          <a:p>
            <a:pPr lvl="1"/>
            <a:r>
              <a:rPr sz="1300" b="0"/>
              <a:t>3. The surface-material breakdown chart</a:t>
            </a:r>
          </a:p>
          <a:p>
            <a:pPr lvl="1"/>
            <a:r>
              <a:rPr sz="1300" b="0"/>
              <a:t>4. The passive-cooling blueprint with metric quantities</a:t>
            </a:r>
          </a:p>
          <a:p>
            <a:pPr lvl="1"/>
            <a:r>
              <a:rPr sz="1300" b="0"/>
              <a:t>5. The LOW-risk contrast result for comparison</a:t>
            </a:r>
          </a:p>
          <a:p>
            <a:pPr/>
            <a:r>
              <a:rPr sz="1300" b="0"/>
              <a:t>Live dashboard: https://hotspot-frontend-153692178986.asia-southeast1.run.app</a:t>
            </a:r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/>
              <a:t>Measured against the deployed stack, not estimated</a:t>
            </a:r>
            <a:endParaRPr/>
          </a:p>
          <a:p>
            <a:pPr/>
            <a:r>
              <a:rPr sz="1300" b="0"/>
              <a:t>Analysis latency — 15.6 s for an uploaded image; 13.5 s for a coordinate (coordinate also fetches and renders satellite imagery)</a:t>
            </a:r>
          </a:p>
          <a:p>
            <a:pPr/>
            <a:r>
              <a:rPr sz="1300" b="0"/>
              <a:t>Representative results — industrial district: HVI 8.1 CRITICAL, alert published. Botanic Gardens: HVI 1.5 LOW, no alert. Same pipeline, same model.</a:t>
            </a:r>
          </a:p>
          <a:p>
            <a:pPr/>
            <a:r>
              <a:rPr sz="1300" b="0"/>
              <a:t>Climate grounding — live NOAA GSOD telemetry at 31.0 °C via BigQuery</a:t>
            </a:r>
          </a:p>
          <a:p>
            <a:pPr/>
            <a:r>
              <a:rPr sz="1300" b="0"/>
              <a:t>Quality — 686 automated tests, all offline; 98.2% backend coverage with no file below a 70% floor; 0 open P0 defects</a:t>
            </a:r>
          </a:p>
          <a:p>
            <a:pPr/>
            <a:r>
              <a:rPr sz="1300" b="0"/>
              <a:t>Reliability — /api/health reports gemini, firestore, pubsub and bigquery independently; all four ready in production</a:t>
            </a:r>
          </a:p>
          <a:p>
            <a:pPr/>
            <a:r>
              <a:rPr sz="1300" b="0"/>
              <a:t>Security — no service-account key files; the Maps API key is mounted from Secret Manager, never exposed as an environment variable; gitleaks scans every push</a:t>
            </a:r>
          </a:p>
          <a:p>
            <a:pPr/>
            <a:r>
              <a:rPr sz="1300" b="0"/>
              <a:t>Delivery — five required CI checks gate every merge; a version tag deploys both services keylessly and verifies each one separately</a:t>
            </a:r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/>
              <a:t>Known limitations, stated plainly</a:t>
            </a:r>
            <a:endParaRPr/>
          </a:p>
          <a:p>
            <a:pPr lvl="1"/>
            <a:r>
              <a:rPr sz="1300" b="0"/>
              <a:t>A scan does not yet store the object URI of the exact image it analysed; durable imagery storage exists, the record linkage does not.</a:t>
            </a:r>
          </a:p>
          <a:p>
            <a:pPr lvl="1"/>
            <a:r>
              <a:rPr sz="1300" b="0"/>
              <a:t>HVI is model-inferred, so scores vary slightly between runs rather than being deterministic.</a:t>
            </a:r>
          </a:p>
          <a:p>
            <a:pPr/>
            <a:r>
              <a:rPr sz="1300" b="1"/>
              <a:t>Future development</a:t>
            </a:r>
          </a:p>
          <a:p>
            <a:pPr lvl="1"/>
            <a:r>
              <a:rPr sz="1300" b="0"/>
              <a:t>Time-series tracking per zone to measure whether an intervention actually worked</a:t>
            </a:r>
          </a:p>
          <a:p>
            <a:pPr lvl="1"/>
            <a:r>
              <a:rPr sz="1300" b="0"/>
              <a:t>Batch analysis across a whole city grid, ranked by intervention impact per dollar</a:t>
            </a:r>
          </a:p>
          <a:p>
            <a:pPr lvl="1"/>
            <a:r>
              <a:rPr sz="1300" b="0"/>
              <a:t>Cost modelling attached to the cooling blueprint for direct procurement use</a:t>
            </a:r>
          </a:p>
          <a:p>
            <a:pPr lvl="1"/>
            <a:r>
              <a:rPr sz="1300" b="0"/>
              <a:t>Dashboards for citizens, not just planners, to surface neighbourhood-level risk</a:t>
            </a:r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/>
              <a:t>GitHub Public Repository</a:t>
            </a:r>
            <a:endParaRPr/>
          </a:p>
          <a:p>
            <a:pPr lvl="1"/>
            <a:r>
              <a:rPr sz="1300" b="0"/>
              <a:t>https://github.com/debabratahazra/hotspot-sentinels</a:t>
            </a:r>
          </a:p>
          <a:p>
            <a:pPr/>
            <a:r>
              <a:rPr sz="1300" b="1"/>
              <a:t>Demo Video Link</a:t>
            </a:r>
          </a:p>
          <a:p>
            <a:pPr lvl="1"/>
            <a:r>
              <a:rPr sz="1300" b="0"/>
              <a:t>[INSERT VIDEO URL — 3 to 4 minutes, publicly accessible]</a:t>
            </a:r>
          </a:p>
          <a:p>
            <a:pPr/>
            <a:r>
              <a:rPr sz="1300" b="1"/>
              <a:t>Final Product Link (deployed prototype)</a:t>
            </a:r>
          </a:p>
          <a:p>
            <a:pPr lvl="1"/>
            <a:r>
              <a:rPr sz="1300" b="0"/>
              <a:t>https://hotspot-frontend-153692178986.asia-southeast1.run.app</a:t>
            </a:r>
          </a:p>
          <a:p>
            <a:pPr/>
            <a:r>
              <a:rPr sz="1300" b="1"/>
              <a:t>Backend API (health check)</a:t>
            </a:r>
          </a:p>
          <a:p>
            <a:pPr lvl="1"/>
            <a:r>
              <a:rPr sz="1300" b="0"/>
              <a:t>https://hotspot-backend-153692178986.asia-southeast1.run.app/api/health</a:t>
            </a:r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