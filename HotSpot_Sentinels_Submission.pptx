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HotSpot Sentinels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Debabrata Hazra   |   Team members: Debabrata Hazra, Deepthi Konda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Sustainability and Social Impact — urban heat islands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/>
              <a:t>Heat is the deadliest weather there is, and cities make it worse. Dark roofs and asphalt turn a neighbourhood into an oven several degrees hotter than the land around it.</a:t>
            </a:r>
            <a:endParaRPr/>
          </a:p>
          <a:p>
            <a:pPr/>
            <a:r>
              <a:rPr sz="1300" b="0"/>
              <a:t>That heat kills the elderly and the outdoor poor, pushes street animals and urban wildlife out of their range, and forces air-conditioning demand that burns more carbon — which makes the next summer hotter still.</a:t>
            </a:r>
          </a:p>
          <a:p>
            <a:pPr/>
            <a:r>
              <a:rPr sz="1300" b="0"/>
              <a:t>The barrier is not willingness. It is that nobody can point at one city block and say how bad this one is, and what exactly to do about it.</a:t>
            </a:r>
          </a:p>
          <a:p>
            <a:pPr/>
            <a:r>
              <a:rPr sz="1300" b="1"/>
              <a:t>HotSpot Sentinels answers both in about fifteen seconds:</a:t>
            </a:r>
          </a:p>
          <a:p>
            <a:pPr lvl="1"/>
            <a:r>
              <a:rPr sz="1300" b="0"/>
              <a:t>A 0–10 Heat Vulnerability Index with a risk band</a:t>
            </a:r>
          </a:p>
          <a:p>
            <a:pPr lvl="1"/>
            <a:r>
              <a:rPr sz="1300" b="0"/>
              <a:t>The surface materials driving that score — asphalt, dark roof, concrete, canopy</a:t>
            </a:r>
          </a:p>
          <a:p>
            <a:pPr lvl="1"/>
            <a:r>
              <a:rPr sz="1300" b="0"/>
              <a:t>A passive-cooling blueprint with quantities: corridor orientation, retroreflective coating in m², projected temperature drop in °C</a:t>
            </a:r>
          </a:p>
          <a:p>
            <a:pPr/>
            <a:r>
              <a:rPr sz="1300" b="0"/>
              <a:t>When a zone scores CRITICAL it publishes a public alert automatically, so residents learn their street is dangerous without needing access to a planning dashboard.</a:t>
            </a: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>Why this matters — environment, people, animals</a:t>
            </a:r>
            <a:endParaRPr/>
          </a:p>
          <a:p>
            <a:pPr lvl="1"/>
            <a:r>
              <a:rPr sz="1100" b="0"/>
              <a:t>Measured on the live system: a container terminal at 0% tree canopy scores 8.6 CRITICAL; a national park at 100% canopy scores 1.5 LOW. Same model, same pipeline. That gap is exactly what tree cover and reflective surfaces buy a city.</a:t>
            </a:r>
          </a:p>
          <a:p>
            <a:pPr lvl="1"/>
            <a:r>
              <a:rPr sz="1100" b="0"/>
              <a:t>The blueprint for one CRITICAL zone projects an 8–10 °C surface temperature drop — the difference between a heatwave that is survivable and one that is not, and a direct cut in cooling energy demand.</a:t>
            </a:r>
          </a:p>
          <a:p>
            <a:pPr lvl="1"/>
            <a:r>
              <a:rPr sz="1100" b="0"/>
              <a:t>Cooler blocks mean habitable shade for street animals and urban wildlife, not only comfort for people indoors.</a:t>
            </a:r>
          </a:p>
          <a:p>
            <a:pPr/>
            <a:r>
              <a:rPr sz="1100" b="1"/>
              <a:t>How it differs from existing ideas</a:t>
            </a:r>
          </a:p>
          <a:p>
            <a:pPr lvl="1"/>
            <a:r>
              <a:rPr sz="1100" b="0"/>
              <a:t>Most heat-island tools stop at a map showing where it is hot. This explains why — which surfaces cause it — and prescribes what to change, with quantities.</a:t>
            </a:r>
          </a:p>
          <a:p>
            <a:pPr lvl="1"/>
            <a:r>
              <a:rPr sz="1100" b="0"/>
              <a:t>No thermal or LiDAR capture needed. It reads ordinary RGB imagery, so any city with satellite coverage can start today, including ones that cannot fund a survey.</a:t>
            </a:r>
          </a:p>
          <a:p>
            <a:pPr/>
            <a:r>
              <a:rPr sz="1100" b="1"/>
              <a:t>USP</a:t>
            </a:r>
          </a:p>
          <a:p>
            <a:pPr lvl="1"/>
            <a:r>
              <a:rPr sz="1100" b="0"/>
              <a:t>Image or place name in, costed retrofit plan out, in about fifteen seconds — with a machine-readable contract that can feed procurement or GIS directly.</a:t>
            </a: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>Analyse anywhere — four ways to choose a location</a:t>
            </a:r>
            <a:endParaRPr/>
          </a:p>
          <a:p>
            <a:pPr lvl="1"/>
            <a:r>
              <a:rPr sz="1100" b="0"/>
              <a:t>A shortcut list of 15 places across Asia, ordered most built-up to most green, so the list itself runs from CRITICAL down to LOW</a:t>
            </a:r>
          </a:p>
          <a:p>
            <a:pPr lvl="1"/>
            <a:r>
              <a:rPr sz="1100" b="0"/>
              <a:t>Type three characters and pick from live Google Places suggestions, down to neighbourhood level; click any point on a world map; or paste coordinates</a:t>
            </a:r>
          </a:p>
          <a:p>
            <a:pPr lvl="1"/>
            <a:r>
              <a:rPr sz="1100" b="0"/>
              <a:t>A clicked point is named automatically — city and country on land, or the sea or ocean at sea</a:t>
            </a:r>
          </a:p>
          <a:p>
            <a:pPr lvl="1"/>
            <a:r>
              <a:rPr sz="1100" b="0"/>
              <a:t>Whichever method is used, both search boxes and the coordinate fields update together, so the screen never names one place while analysing another</a:t>
            </a:r>
          </a:p>
          <a:p>
            <a:pPr/>
            <a:r>
              <a:rPr sz="1100" b="1"/>
              <a:t>Analysis</a:t>
            </a:r>
          </a:p>
          <a:p>
            <a:pPr lvl="1"/>
            <a:r>
              <a:rPr sz="1100" b="0"/>
              <a:t>Upload an aerial image, or analyse a coordinate from live Google satellite imagery</a:t>
            </a:r>
          </a:p>
          <a:p>
            <a:pPr lvl="1"/>
            <a:r>
              <a:rPr sz="1100" b="0"/>
              <a:t>0–10 Heat Vulnerability Index with LOW / MODERATE / HIGH / CRITICAL banding</a:t>
            </a:r>
          </a:p>
          <a:p>
            <a:pPr lvl="1"/>
            <a:r>
              <a:rPr sz="1100" b="0"/>
              <a:t>Surface-material breakdown that always totals 100%</a:t>
            </a:r>
          </a:p>
          <a:p>
            <a:pPr lvl="1"/>
            <a:r>
              <a:rPr sz="1100" b="0"/>
              <a:t>Passive-cooling blueprint in metric units — m², °C, corridor orientation</a:t>
            </a:r>
          </a:p>
          <a:p>
            <a:pPr lvl="1"/>
            <a:r>
              <a:rPr sz="1100" b="0"/>
              <a:t>Live ambient temperature from NOAA GSOD via BigQuery, with an offline fallback</a:t>
            </a:r>
          </a:p>
          <a:p>
            <a:pPr/>
            <a:r>
              <a:rPr sz="1100" b="1"/>
              <a:t>Reaching people</a:t>
            </a:r>
          </a:p>
          <a:p>
            <a:pPr lvl="1"/>
            <a:r>
              <a:rPr sz="1100" b="0"/>
              <a:t>Automatic Pub/Sub alert the moment a zone is CRITICAL</a:t>
            </a:r>
          </a:p>
          <a:p>
            <a:pPr lvl="1"/>
            <a:r>
              <a:rPr sz="1100" b="0"/>
              <a:t>Public alert wall on Firebase Hosting — citizens see critical zones appear live, while operator scan data stays private</a:t>
            </a:r>
          </a:p>
          <a:p>
            <a:pPr lvl="1"/>
            <a:r>
              <a:rPr sz="1100" b="0"/>
              <a:t>City-wide map of every analysed zone coloured by risk: a retrofit queue ordered worst-first</a:t>
            </a:r>
          </a:p>
          <a:p>
            <a:pPr/>
            <a:r>
              <a:rPr sz="1100" b="1"/>
              <a:t>Trustworthiness</a:t>
            </a:r>
          </a:p>
          <a:p>
            <a:pPr lvl="1"/>
            <a:r>
              <a:rPr sz="1100" b="0"/>
              <a:t>Every identity field is labelled supplied or inferred, so a planner knows which numbers the model guessed</a:t>
            </a:r>
          </a:p>
          <a:p>
            <a:pPr lvl="1"/>
            <a:r>
              <a:rPr sz="1100" b="0"/>
              <a:t>Graceful degradation: a failed alert or climate lookup never fails the analysis</a:t>
            </a: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152071"/>
            <a:ext cx="9173400" cy="176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Operator to retrofit plan. Steps 3-6 are independent: a failed alert or climate lookup degrades the report, it never fails the analysis.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diagram-process-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881" y="5071875"/>
            <a:ext cx="155137" cy="80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152071"/>
            <a:ext cx="9173400" cy="176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Two containers on Cloud Run in asia-southeast1. The Maps key is mounted from Secret Manager and proxied by the backend, so it never reaches a browser.</a:t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diagram-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857" y="5071875"/>
            <a:ext cx="145185" cy="80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>Google Cloud</a:t>
            </a:r>
            <a:endParaRPr/>
          </a:p>
          <a:p>
            <a:pPr lvl="1"/>
            <a:r>
              <a:rPr sz="1100" b="0"/>
              <a:t>Gemini 2.5 Flash (Vertex AI) — multimodal analysis with an enforced JSON schema</a:t>
            </a:r>
          </a:p>
          <a:p>
            <a:pPr lvl="1"/>
            <a:r>
              <a:rPr sz="1100" b="0"/>
              <a:t>Cloud Run — both services, containerised, scale to zero, asia-southeast1</a:t>
            </a:r>
          </a:p>
          <a:p>
            <a:pPr lvl="1"/>
            <a:r>
              <a:rPr sz="1100" b="0"/>
              <a:t>Firebase — Firestore as the system of record, Hosting for the public alert wall, and security rules making curated alerts world-readable but never writable</a:t>
            </a:r>
          </a:p>
          <a:p>
            <a:pPr lvl="1"/>
            <a:r>
              <a:rPr sz="1100" b="0"/>
              <a:t>BigQuery — NOAA GSOD public dataset for live ambient temperature</a:t>
            </a:r>
          </a:p>
          <a:p>
            <a:pPr lvl="1"/>
            <a:r>
              <a:rPr sz="1100" b="0"/>
              <a:t>Pub/Sub — critical-zone alert fan-out</a:t>
            </a:r>
          </a:p>
          <a:p>
            <a:pPr lvl="1"/>
            <a:r>
              <a:rPr sz="1100" b="0"/>
              <a:t>Cloud Storage — imagery cache shared across instances</a:t>
            </a:r>
          </a:p>
          <a:p>
            <a:pPr lvl="1"/>
            <a:r>
              <a:rPr sz="1100" b="0"/>
              <a:t>Maps Static, Geocoding and Places APIs — imagery, place search and reverse naming, all proxied server-side</a:t>
            </a:r>
          </a:p>
          <a:p>
            <a:pPr lvl="1"/>
            <a:r>
              <a:rPr sz="1100" b="0"/>
              <a:t>Secret Manager · Artifact Registry · Cloud Build</a:t>
            </a:r>
          </a:p>
          <a:p>
            <a:pPr/>
            <a:r>
              <a:rPr sz="1100" b="1"/>
              <a:t>Application</a:t>
            </a:r>
          </a:p>
          <a:p>
            <a:pPr lvl="1"/>
            <a:r>
              <a:rPr sz="1100" b="0"/>
              <a:t>Python 3.10+ · FastAPI · Streamlit · Pydantic · Docker (multi-stage, non-root)</a:t>
            </a:r>
          </a:p>
          <a:p>
            <a:pPr lvl="1"/>
            <a:r>
              <a:rPr sz="1100" b="0"/>
              <a:t>GitHub Actions CI/CD with Workload Identity Federation — no service-account keys exist</a:t>
            </a:r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152071"/>
            <a:ext cx="9173400" cy="176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Live analysis of Pasir Panjang Terminal, Singapore, from Google satellite imagery: HVI 8.6 CRITICAL, 0% tree canopy, ambient 31.0 °C measured from NOAA GSOD, and the Pub/Sub alert already visible to citizens on the public wall.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montage-proto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487" y="5071875"/>
            <a:ext cx="135925" cy="801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>Measured against the deployed stack on 2026-10-14, not estimated</a:t>
            </a:r>
            <a:endParaRPr/>
          </a:p>
          <a:p>
            <a:pPr/>
            <a:r>
              <a:rPr sz="1100" b="0"/>
              <a:t>Latency — 21.6 s for the container-terminal coordinate, 12.6 s for the park, 17.2 s for an uploaded image. Coordinates also fetch and render satellite imagery. Cold start is now close to warm.</a:t>
            </a:r>
          </a:p>
          <a:p>
            <a:pPr/>
            <a:r>
              <a:rPr sz="1100" b="0"/>
              <a:t>Representative results, each reproduced on three consecutive runs:</a:t>
            </a:r>
          </a:p>
          <a:p>
            <a:pPr lvl="1"/>
            <a:r>
              <a:rPr sz="1100" b="0"/>
              <a:t>Pasir Panjang Terminal, Singapore — HVI 8.6 CRITICAL, 0% canopy, alert published</a:t>
            </a:r>
          </a:p>
          <a:p>
            <a:pPr lvl="1"/>
            <a:r>
              <a:rPr sz="1100" b="0"/>
              <a:t>Old Dhaka — HVI 8.5 CRITICAL, 0% canopy · Kolkata — 8.2 · Manila — 8.1</a:t>
            </a:r>
          </a:p>
          <a:p>
            <a:pPr lvl="1"/>
            <a:r>
              <a:rPr sz="1100" b="0"/>
              <a:t>Singapore Botanic Gardens — HVI 1.5 LOW, 100% canopy, no alert</a:t>
            </a:r>
          </a:p>
          <a:p>
            <a:pPr/>
            <a:r>
              <a:rPr sz="1100" b="0"/>
              <a:t>Climate grounding — live NOAA GSOD telemetry at 31.0 °C via BigQuery</a:t>
            </a:r>
          </a:p>
          <a:p>
            <a:pPr/>
            <a:r>
              <a:rPr sz="1100" b="0"/>
              <a:t>Quality — 815 automated tests, all offline; 96% backend coverage with no file below a 70% floor; 0 open P0 defects</a:t>
            </a:r>
          </a:p>
          <a:p>
            <a:pPr/>
            <a:r>
              <a:rPr sz="1100" b="0"/>
              <a:t>Reliability — /api/health reports gemini, firestore, pubsub and bigquery independently; all four ready in production</a:t>
            </a:r>
          </a:p>
          <a:p>
            <a:pPr/>
            <a:r>
              <a:rPr sz="1100" b="0"/>
              <a:t>Safety — uploads that are not JPEG or PNG are rejected 415, including files disguised with an image content type; oversized uploads are rejected 413 before any model spend</a:t>
            </a:r>
          </a:p>
          <a:p>
            <a:pPr/>
            <a:r>
              <a:rPr sz="1100" b="0"/>
              <a:t>Security — no service-account key files anywhere; the Maps key is mounted from Secret Manager, never an environment variable; gitleaks scans every push</a:t>
            </a:r>
          </a:p>
          <a:p>
            <a:pPr/>
            <a:r>
              <a:rPr sz="1100" b="0"/>
              <a:t>Delivery — five required CI checks gate every merge; a version tag deploys both services keylessly and verifies each separately</a:t>
            </a:r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>Engineering challenges met</a:t>
            </a:r>
            <a:endParaRPr/>
          </a:p>
          <a:p>
            <a:pPr lvl="1"/>
            <a:r>
              <a:rPr sz="1100" b="0"/>
              <a:t>A generative model will not reliably return parseable JSON on its own. The analyser pins a response schema and the backend refuses a non-conforming payload rather than showing a malformed report.</a:t>
            </a:r>
          </a:p>
          <a:p>
            <a:pPr lvl="1"/>
            <a:r>
              <a:rPr sz="1100" b="0"/>
              <a:t>Cloud Run scales to zero, so an in-process imagery cache died with the container. Moving it to Cloud Storage made imagery survive scale-to-zero and be shared across instances.</a:t>
            </a:r>
          </a:p>
          <a:p>
            <a:pPr lvl="1"/>
            <a:r>
              <a:rPr sz="1100" b="0"/>
              <a:t>A map click could not write the coordinate inputs, because Streamlit forbids writing a widget key after that widget exists. The click is deferred and applied on the next run, before any widget is created.</a:t>
            </a:r>
          </a:p>
          <a:p>
            <a:pPr lvl="1"/>
            <a:r>
              <a:rPr sz="1100" b="0"/>
              <a:t>Google answers 200 with a Plus Code and no country over open water, not ZERO_RESULTS. That absent country became the signal for naming a point at sea.</a:t>
            </a:r>
          </a:p>
          <a:p>
            <a:pPr/>
            <a:r>
              <a:rPr sz="1100" b="1"/>
              <a:t>Known limitations, stated plainly</a:t>
            </a:r>
          </a:p>
          <a:p>
            <a:pPr lvl="1"/>
            <a:r>
              <a:rPr sz="1100" b="0"/>
              <a:t>The model has no concept of water. Pointed at open sea it reads the dark surface as asphalt and scores it CRITICAL. Found by fetching the imagery for a shipping lane and looking at it; the shipped presets are now all verified land, but a user can still click the ocean. A water check is the next thing to build.</a:t>
            </a:r>
          </a:p>
          <a:p>
            <a:pPr lvl="1"/>
            <a:r>
              <a:rPr sz="1100" b="0"/>
              <a:t>HVI is model-inferred, so scores vary slightly between runs. It is a triage tool that says where to survey first; it does not replace the survey.</a:t>
            </a:r>
          </a:p>
          <a:p>
            <a:pPr lvl="1"/>
            <a:r>
              <a:rPr sz="1100" b="0"/>
              <a:t>Given an image with no location metadata the model guesses coordinates, and can guess wrong. The report labels those fields inferred rather than presenting them as fact.</a:t>
            </a:r>
          </a:p>
          <a:p>
            <a:pPr lvl="1"/>
            <a:r>
              <a:rPr sz="1100" b="0"/>
              <a:t>A scan does not yet store the object URI of the exact image it analysed.</a:t>
            </a:r>
          </a:p>
          <a:p>
            <a:pPr/>
            <a:r>
              <a:rPr sz="1100" b="1"/>
              <a:t>Future development</a:t>
            </a:r>
          </a:p>
          <a:p>
            <a:pPr lvl="1"/>
            <a:r>
              <a:rPr sz="1100" b="0"/>
              <a:t>Time-series tracking per zone, to measure whether an intervention actually worked</a:t>
            </a:r>
          </a:p>
          <a:p>
            <a:pPr lvl="1"/>
            <a:r>
              <a:rPr sz="1100" b="0"/>
              <a:t>Batch analysis across a whole city grid, ranked by cooling impact per dollar</a:t>
            </a:r>
          </a:p>
          <a:p>
            <a:pPr lvl="1"/>
            <a:r>
              <a:rPr sz="1100" b="0"/>
              <a:t>Cost modelling attached to the blueprint for direct procurement use</a:t>
            </a:r>
          </a:p>
          <a:p>
            <a:pPr lvl="1"/>
            <a:r>
              <a:rPr sz="1100" b="0"/>
              <a:t>Local-language citizen alerts, and routing to heat shelters during a heatwave</a:t>
            </a:r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/>
              <a:t>GitHub Public Repository</a:t>
            </a:r>
            <a:endParaRPr/>
          </a:p>
          <a:p>
            <a:pPr lvl="1"/>
            <a:r>
              <a:rPr sz="1100" b="0"/>
              <a:t>https://github.com/debabratahazra/hotspot-sentinels</a:t>
            </a:r>
          </a:p>
          <a:p>
            <a:pPr/>
            <a:r>
              <a:rPr sz="1100" b="1"/>
              <a:t>Demo Video Link</a:t>
            </a:r>
          </a:p>
          <a:p>
            <a:pPr lvl="1"/>
            <a:r>
              <a:rPr sz="1100" b="0"/>
              <a:t>[INSERT VIDEO URL — 3 to 4 minutes, publicly accessible]</a:t>
            </a:r>
          </a:p>
          <a:p>
            <a:pPr/>
            <a:r>
              <a:rPr sz="1100" b="1"/>
              <a:t>Final Product Link (deployed prototype)</a:t>
            </a:r>
          </a:p>
          <a:p>
            <a:pPr lvl="1"/>
            <a:r>
              <a:rPr sz="1100" b="0"/>
              <a:t>https://hotspot-frontend-153692178986.asia-southeast1.run.app</a:t>
            </a:r>
          </a:p>
          <a:p>
            <a:pPr/>
            <a:r>
              <a:rPr sz="1100" b="1"/>
              <a:t>Public alert wall (live, no sign-in)</a:t>
            </a:r>
          </a:p>
          <a:p>
            <a:pPr lvl="1"/>
            <a:r>
              <a:rPr sz="1100" b="0"/>
              <a:t>https://hotspot-sentinels-7364.web.app</a:t>
            </a:r>
          </a:p>
          <a:p>
            <a:pPr/>
            <a:r>
              <a:rPr sz="1100" b="1"/>
              <a:t>Backend API (health check)</a:t>
            </a:r>
          </a:p>
          <a:p>
            <a:pPr lvl="1"/>
            <a:r>
              <a:rPr sz="1100" b="0"/>
              <a:t>https://hotspot-backend-153692178986.asia-southeast1.run.app/api/health</a:t>
            </a:r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